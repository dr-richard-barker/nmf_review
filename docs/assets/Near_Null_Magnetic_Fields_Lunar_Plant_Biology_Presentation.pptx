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Adriana Sanchez, Manisha Dagar, Ray Wheeler, Gioia Massa, Barbara Demmig-Adams, Marta Peirats-Llobet, Pamela Flores, Anirudha Dixit, and Christine Chamberlain.</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INTEGRATIVE REVIEW METHODOLOGY):</a:t>
            </a:r>
          </a:p>
          <a:p>
            <a:r>
              <a:t>• Before diving into the plant developmental phenotypes, this slide establishes our formal review methodology.</a:t>
            </a:r>
          </a:p>
          <a:p>
            <a:r>
              <a:t>• Following the Scale for the Assessment of Narrative Review Articles (SANRA) guidelines, we structured this work as an Integrative Review.</a:t>
            </a:r>
          </a:p>
          <a:p>
            <a:r>
              <a:t>• On the left panel (a), notice our conceptual framework: we formulate 4 research questions spanning from planetary geophysics to quantum radical pairs.</a:t>
            </a:r>
          </a:p>
          <a:p>
            <a:r>
              <a:t>• On the right panel (b), our PRISMA/SANRA-compliant flow diagram documents the rigorous screening process: we surveyed 1,428 database records across PubMed, Web of Science, Scopus, Europe PMC, and NASA OSDR, plus 6 primary repositories.</a:t>
            </a:r>
          </a:p>
          <a:p>
            <a:r>
              <a:t>• After deduplication and screening against explicit inclusion/exclusion criteria, 80 audited peer-reviewed publications and 6 public datasets were synthesized.</a:t>
            </a:r>
          </a:p>
          <a:p>
            <a:r>
              <a:t>• All non-linear Weibull and logistic germination kinetics, vector superposition equations, and multi-omics gene overlap matrices were executed using our open-source Python package on GitHub and Zenodo.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missions,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establishes our translational roadmap, focusing on rigorous ground simulation methods and post-flight disambiguation.</a:t>
            </a:r>
          </a:p>
          <a:p>
            <a:r>
              <a:t>• Panel (a) sets the 3-chamber ground standard: Chamber 1 (GMF terrestrial control), Chamber 2 (Shielded/Cancelled NNMF lunar simulation), and Chamber 3 (Bifilar sham control matching current, heat, and vibration without magnetic fields).</a:t>
            </a:r>
          </a:p>
          <a:p>
            <a:r>
              <a:t>• Panel (b) introduces our hardware self-magnetic assessment protocol: Characterizing induced magnetic fields across subsystem operating states (LED PAR lighting, fluidic pumps, thermal heaters, and avionics bus) to establish empirical transfer functions that subtract hardware self-fields without requiring active coils in flight.</a:t>
            </a:r>
          </a:p>
          <a:p>
            <a:r>
              <a:t>• Panel (c) provides our post-flight phenotypic disambiguation framework: A full comparative matrix distinguishing hypomagnetic lesions from lunar partial gravity (0.166 g) and deep-space cosmic radiation (GCR) using specific cellular targets and diagnostic rescue strategies.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PHENOTYPIC DISAMBIGUATION MATRIX):</a:t>
            </a:r>
          </a:p>
          <a:p>
            <a:r>
              <a:t>• This table represents our key translational science recommendation for Artemis payloads and lunar greenhouses.</a:t>
            </a:r>
          </a:p>
          <a:p>
            <a:r>
              <a:t>• When plants show stress on the lunar surface, how do we know if it was hypomagnetic stress, partial gravity (0.166 g), or radiation?</a:t>
            </a:r>
          </a:p>
          <a:p>
            <a:r>
              <a:t>• This matrix provides unambiguous diagnostic markers:</a:t>
            </a:r>
          </a:p>
          <a:p>
            <a:r>
              <a:t>  1. Hypomagnetic field delays emergence velocity (Δt50 = +12–36 h), represses chlorophyll/anthocyanin synthesis via cryptochromes, and triggers mitochondrial AOX1D without nuclear DNA damage. In ground controls, it is fully rescued by a 45 µT vector.</a:t>
            </a:r>
          </a:p>
          <a:p>
            <a:r>
              <a:t>  2. Lunar partial gravity causes directional skewing and cell wall changes, but germination rate and greening are normal. It is rescued by a 1g centrifuge, but unaffected by magnetic fields.</a:t>
            </a:r>
          </a:p>
          <a:p>
            <a:r>
              <a:t>  3. Radiation causes double-strand DNA breaks and γ-H2AX foci, which are independent of magnetic fields or gravity.</a:t>
            </a:r>
          </a:p>
          <a:p>
            <a:r>
              <a:t>• This framework replaces arbitrary mission abort criteria with a rigorous post-flight diagnostic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MISSIONS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D. Marshall Porterfield*, Richard J. Barker*, Caue Borlina, Aubrey O’Rourke, Adriana Sanchez, Manisha Dagar,</a:t>
            </a:r>
            <a:br/>
            <a:r>
              <a:t>Ray Wheeler, Gioia Massa, Barbara Demmig-Adams, Marta Peirats-Llobet, Pamela Flores, Anirudha Dixit, Christine Chamberlain</a:t>
            </a:r>
          </a:p>
          <a:p>
            <a:pPr>
              <a:defRPr sz="950">
                <a:solidFill>
                  <a:srgbClr val="94A3B8"/>
                </a:solidFill>
              </a:defRPr>
            </a:pPr>
            <a:r>
              <a:t>La Trobe University • Space Lab Technologies • NASA Kennedy Space Center • University of Colorado Boulder • Purdue University</a:t>
            </a:r>
            <a:br/>
            <a:r>
              <a:t>*Corresponding Authors: dr.richard.barker@gmail.com, porterf@purdue.edu</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Missions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Missions LEAF Perspective        Slide 1 of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2 of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3 of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4 of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REVIEW METHODOLOGY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Integrative Review Architecture: From Planetary Voids to Quantum Biology</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SANRA-guided multi-scale synthesis bridging 80 audited peer-reviewed publications and 6 public spaceflight/planetary datasets</a:t>
            </a:r>
          </a:p>
        </p:txBody>
      </p:sp>
      <p:sp>
        <p:nvSpPr>
          <p:cNvPr id="5" name="Rounded Rectangle 4"/>
          <p:cNvSpPr/>
          <p:nvPr/>
        </p:nvSpPr>
        <p:spPr>
          <a:xfrm>
            <a:off x="731520" y="1600200"/>
            <a:ext cx="52120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methods_conceptual_framework.png"/>
          <p:cNvPicPr>
            <a:picLocks noChangeAspect="1"/>
          </p:cNvPicPr>
          <p:nvPr/>
        </p:nvPicPr>
        <p:blipFill>
          <a:blip r:embed="rId2"/>
          <a:stretch>
            <a:fillRect/>
          </a:stretch>
        </p:blipFill>
        <p:spPr>
          <a:xfrm>
            <a:off x="822960" y="1920240"/>
            <a:ext cx="5029200" cy="432511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Conceptual Framework of the Integrative Review (SANRA Guidelines)</a:t>
            </a:r>
          </a:p>
        </p:txBody>
      </p:sp>
      <p:sp>
        <p:nvSpPr>
          <p:cNvPr id="8" name="Rounded Rectangle 7"/>
          <p:cNvSpPr/>
          <p:nvPr/>
        </p:nvSpPr>
        <p:spPr>
          <a:xfrm>
            <a:off x="6248095" y="1600200"/>
            <a:ext cx="52120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methods_prisma_flow.png"/>
          <p:cNvPicPr>
            <a:picLocks noChangeAspect="1"/>
          </p:cNvPicPr>
          <p:nvPr/>
        </p:nvPicPr>
        <p:blipFill>
          <a:blip r:embed="rId3"/>
          <a:stretch>
            <a:fillRect/>
          </a:stretch>
        </p:blipFill>
        <p:spPr>
          <a:xfrm>
            <a:off x="6339535" y="1920240"/>
            <a:ext cx="5029200" cy="432511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Evidence Identification &amp; Selection Flow (PRISMA/SANRA Flow)</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5 of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6 of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7 of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8 of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9 of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10 of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11 of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6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Ground Simulation Standards &amp; Post-Flight Disambiguation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 situ causal rescue proof-of-concept, and post-flight phenotypic disambiguation framework</a:t>
            </a:r>
          </a:p>
        </p:txBody>
      </p:sp>
      <p:sp>
        <p:nvSpPr>
          <p:cNvPr id="5" name="Rounded Rectangle 4"/>
          <p:cNvSpPr/>
          <p:nvPr/>
        </p:nvSpPr>
        <p:spPr>
          <a:xfrm>
            <a:off x="731520"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1051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Standards (3-Chamber Parity)</a:t>
            </a:r>
          </a:p>
        </p:txBody>
      </p:sp>
      <p:sp>
        <p:nvSpPr>
          <p:cNvPr id="8" name="Rounded Rectangle 7"/>
          <p:cNvSpPr/>
          <p:nvPr/>
        </p:nvSpPr>
        <p:spPr>
          <a:xfrm>
            <a:off x="6248095"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hardware_assessment.png"/>
          <p:cNvPicPr>
            <a:picLocks noChangeAspect="1"/>
          </p:cNvPicPr>
          <p:nvPr/>
        </p:nvPicPr>
        <p:blipFill>
          <a:blip r:embed="rId3"/>
          <a:stretch>
            <a:fillRect/>
          </a:stretch>
        </p:blipFill>
        <p:spPr>
          <a:xfrm>
            <a:off x="6339535" y="1920240"/>
            <a:ext cx="5029200" cy="181051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Hardware Self-Magnetic Assessment Protocol (Power-State Mapping)</a:t>
            </a:r>
          </a:p>
        </p:txBody>
      </p:sp>
      <p:sp>
        <p:nvSpPr>
          <p:cNvPr id="11" name="Rounded Rectangle 10"/>
          <p:cNvSpPr/>
          <p:nvPr/>
        </p:nvSpPr>
        <p:spPr>
          <a:xfrm>
            <a:off x="731520" y="3977639"/>
            <a:ext cx="10728655"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decision_matrix.png"/>
          <p:cNvPicPr>
            <a:picLocks noChangeAspect="1"/>
          </p:cNvPicPr>
          <p:nvPr/>
        </p:nvPicPr>
        <p:blipFill>
          <a:blip r:embed="rId4"/>
          <a:stretch>
            <a:fillRect/>
          </a:stretch>
        </p:blipFill>
        <p:spPr>
          <a:xfrm>
            <a:off x="822960" y="4297679"/>
            <a:ext cx="10545775" cy="1947672"/>
          </a:xfrm>
          <a:prstGeom prst="rect">
            <a:avLst/>
          </a:prstGeom>
        </p:spPr>
      </p:pic>
      <p:sp>
        <p:nvSpPr>
          <p:cNvPr id="13" name="TextBox 12"/>
          <p:cNvSpPr txBox="1"/>
          <p:nvPr/>
        </p:nvSpPr>
        <p:spPr>
          <a:xfrm>
            <a:off x="868680" y="4023359"/>
            <a:ext cx="10728655" cy="274320"/>
          </a:xfrm>
          <a:prstGeom prst="rect">
            <a:avLst/>
          </a:prstGeom>
          <a:noFill/>
        </p:spPr>
        <p:txBody>
          <a:bodyPr wrap="none">
            <a:spAutoFit/>
          </a:bodyPr>
          <a:lstStyle/>
          <a:p>
            <a:pPr>
              <a:defRPr sz="900" b="1">
                <a:solidFill>
                  <a:srgbClr val="0284C7"/>
                </a:solidFill>
              </a:defRPr>
            </a:pPr>
            <a:r>
              <a:t>(c) Post-Flight Phenotypic Risk Disambiguation Framework (Comparative Matrix)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12 of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Phenotypic Risk Disambiguation Matrix for Lunar Plant Biology</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Diagnostic criteria to decouple Near-Null Magnetic Fields from Lunar Partial Gravity and Deep-Space Radiation</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2011680"/>
                <a:gridCol w="2560320"/>
                <a:gridCol w="3291840"/>
                <a:gridCol w="2864815"/>
              </a:tblGrid>
              <a:tr h="1120140">
                <a:tc>
                  <a:txBody>
                    <a:bodyPr/>
                    <a:lstStyle/>
                    <a:p>
                      <a:pPr>
                        <a:defRPr sz="950" b="1">
                          <a:solidFill>
                            <a:srgbClr val="F8FAFC"/>
                          </a:solidFill>
                        </a:defRPr>
                      </a:pPr>
                      <a:r>
                        <a:t>Environmental Stressor</a:t>
                      </a:r>
                    </a:p>
                  </a:txBody>
                  <a:tcPr anchor="ctr">
                    <a:solidFill>
                      <a:srgbClr val="0B1E36"/>
                    </a:solidFill>
                  </a:tcPr>
                </a:tc>
                <a:tc>
                  <a:txBody>
                    <a:bodyPr/>
                    <a:lstStyle/>
                    <a:p>
                      <a:pPr>
                        <a:defRPr sz="950" b="1">
                          <a:solidFill>
                            <a:srgbClr val="F8FAFC"/>
                          </a:solidFill>
                        </a:defRPr>
                      </a:pPr>
                      <a:r>
                        <a:t>Primary Cellular Target</a:t>
                      </a:r>
                    </a:p>
                  </a:txBody>
                  <a:tcPr anchor="ctr">
                    <a:solidFill>
                      <a:srgbClr val="0B1E36"/>
                    </a:solidFill>
                  </a:tcPr>
                </a:tc>
                <a:tc>
                  <a:txBody>
                    <a:bodyPr/>
                    <a:lstStyle/>
                    <a:p>
                      <a:pPr>
                        <a:defRPr sz="950" b="1">
                          <a:solidFill>
                            <a:srgbClr val="F8FAFC"/>
                          </a:solidFill>
                        </a:defRPr>
                      </a:pPr>
                      <a:r>
                        <a:t>Phenotypic Diagnostic Signature (Days 0–5)</a:t>
                      </a:r>
                    </a:p>
                  </a:txBody>
                  <a:tcPr anchor="ctr">
                    <a:solidFill>
                      <a:srgbClr val="0B1E36"/>
                    </a:solidFill>
                  </a:tcPr>
                </a:tc>
                <a:tc>
                  <a:txBody>
                    <a:bodyPr/>
                    <a:lstStyle/>
                    <a:p>
                      <a:pPr>
                        <a:defRPr sz="950" b="1">
                          <a:solidFill>
                            <a:srgbClr val="F8FAFC"/>
                          </a:solidFill>
                        </a:defRPr>
                      </a:pPr>
                      <a:r>
                        <a:t>Disambiguation Strategy</a:t>
                      </a:r>
                    </a:p>
                  </a:txBody>
                  <a:tcPr anchor="ctr">
                    <a:solidFill>
                      <a:srgbClr val="0B1E36"/>
                    </a:solidFill>
                  </a:tcPr>
                </a:tc>
              </a:tr>
              <a:tr h="1120140">
                <a:tc>
                  <a:txBody>
                    <a:bodyPr/>
                    <a:lstStyle/>
                    <a:p>
                      <a:pPr>
                        <a:defRPr sz="900" b="1">
                          <a:solidFill>
                            <a:srgbClr val="DC2626"/>
                          </a:solidFill>
                        </a:defRPr>
                      </a:pPr>
                      <a:r>
                        <a:t>Near-Null Magnetic Field</a:t>
                      </a:r>
                    </a:p>
                    <a:p>
                      <a:r>
                        <a:t>(NNMF, &lt; 10 nT)</a:t>
                      </a:r>
                    </a:p>
                  </a:txBody>
                  <a:tcPr anchor="ctr">
                    <a:solidFill>
                      <a:srgbClr val="FEF2F2"/>
                    </a:solidFill>
                  </a:tcPr>
                </a:tc>
                <a:tc>
                  <a:txBody>
                    <a:bodyPr/>
                    <a:lstStyle/>
                    <a:p>
                      <a:pPr>
                        <a:defRPr sz="850">
                          <a:solidFill>
                            <a:srgbClr val="0F172A"/>
                          </a:solidFill>
                        </a:defRPr>
                      </a:pPr>
                      <a:r>
                        <a:t>Cryptochrome radical pairs</a:t>
                      </a:r>
                    </a:p>
                    <a:p>
                      <a:r>
                        <a:t>[FAD•- ... TrpH•+];</a:t>
                      </a:r>
                    </a:p>
                    <a:p>
                      <a:r>
                        <a:t>SDP1 triacylglycerol lipase.</a:t>
                      </a:r>
                    </a:p>
                  </a:txBody>
                  <a:tcPr anchor="ctr">
                    <a:solidFill>
                      <a:srgbClr val="F8FAFC"/>
                    </a:solidFill>
                  </a:tcPr>
                </a:tc>
                <a:tc>
                  <a:txBody>
                    <a:bodyPr/>
                    <a:lstStyle/>
                    <a:p>
                      <a:pPr>
                        <a:defRPr sz="800">
                          <a:solidFill>
                            <a:srgbClr val="0F172A"/>
                          </a:solidFill>
                        </a:defRPr>
                      </a:pPr>
                      <a:r>
                        <a:t>• Emergence lag (Δt50 = +12–36 h)</a:t>
                      </a:r>
                    </a:p>
                    <a:p>
                      <a:r>
                        <a:t>• 10%–30% capacity drop; chlorosis</a:t>
                      </a:r>
                    </a:p>
                    <a:p>
                      <a:r>
                        <a:t>• Downregulated HEMA1/CHLH/POR</a:t>
                      </a:r>
                    </a:p>
                    <a:p>
                      <a:r>
                        <a:t>• Mitochondrial AOX1D &amp; CAT3 leak</a:t>
                      </a:r>
                    </a:p>
                    <a:p>
                      <a:r>
                        <a:t>• Minimal nuclear DNA breaks</a:t>
                      </a:r>
                    </a:p>
                  </a:txBody>
                  <a:tcPr anchor="ctr">
                    <a:solidFill>
                      <a:srgbClr val="F8FAFC"/>
                    </a:solidFill>
                  </a:tcPr>
                </a:tc>
                <a:tc>
                  <a:txBody>
                    <a:bodyPr/>
                    <a:lstStyle/>
                    <a:p>
                      <a:pPr>
                        <a:defRPr sz="819">
                          <a:solidFill>
                            <a:srgbClr val="0F172A"/>
                          </a:solidFill>
                        </a:defRPr>
                      </a:pPr>
                      <a:r>
                        <a:t>• Reversible by in situ 45 µT vector re-application (causal rescue).</a:t>
                      </a:r>
                    </a:p>
                    <a:p>
                      <a:r>
                        <a:t>• Insensitive to 1g spin centrifugation.</a:t>
                      </a:r>
                    </a:p>
                    <a:p>
                      <a:r>
                        <a:t>• Correlates with 3-axis magnetometer canopy telemetry.</a:t>
                      </a:r>
                    </a:p>
                  </a:txBody>
                  <a:tcPr anchor="ctr">
                    <a:solidFill>
                      <a:srgbClr val="F8FAFC"/>
                    </a:solidFill>
                  </a:tcPr>
                </a:tc>
              </a:tr>
              <a:tr h="1120140">
                <a:tc>
                  <a:txBody>
                    <a:bodyPr/>
                    <a:lstStyle/>
                    <a:p>
                      <a:pPr>
                        <a:defRPr sz="900" b="1">
                          <a:solidFill>
                            <a:srgbClr val="16A34A"/>
                          </a:solidFill>
                        </a:defRPr>
                      </a:pPr>
                      <a:r>
                        <a:t>Lunar Partial Gravity</a:t>
                      </a:r>
                    </a:p>
                    <a:p>
                      <a:r>
                        <a:t>(0.166 g) / Microgravity</a:t>
                      </a:r>
                    </a:p>
                  </a:txBody>
                  <a:tcPr anchor="ctr">
                    <a:solidFill>
                      <a:srgbClr val="DCFCE7"/>
                    </a:solidFill>
                  </a:tcPr>
                </a:tc>
                <a:tc>
                  <a:txBody>
                    <a:bodyPr/>
                    <a:lstStyle/>
                    <a:p>
                      <a:pPr>
                        <a:defRPr sz="850">
                          <a:solidFill>
                            <a:srgbClr val="0F172A"/>
                          </a:solidFill>
                        </a:defRPr>
                      </a:pPr>
                      <a:r>
                        <a:t>Amyloplast statolith sedimentation;</a:t>
                      </a:r>
                    </a:p>
                    <a:p>
                      <a:r>
                        <a:t>Mechanosensitive ion channels (MSL/MCA);</a:t>
                      </a:r>
                    </a:p>
                    <a:p>
                      <a:r>
                        <a:t>PIN auxin carrier polarity.</a:t>
                      </a:r>
                    </a:p>
                  </a:txBody>
                  <a:tcPr anchor="ctr">
                    <a:solidFill>
                      <a:srgbClr val="F8FAFC"/>
                    </a:solidFill>
                  </a:tcPr>
                </a:tc>
                <a:tc>
                  <a:txBody>
                    <a:bodyPr/>
                    <a:lstStyle/>
                    <a:p>
                      <a:pPr>
                        <a:defRPr sz="800">
                          <a:solidFill>
                            <a:srgbClr val="0F172A"/>
                          </a:solidFill>
                        </a:defRPr>
                      </a:pPr>
                      <a:r>
                        <a:t>• Normal germination capacity</a:t>
                      </a:r>
                    </a:p>
                    <a:p>
                      <a:r>
                        <a:t>• Negligible emergence lag (Δt50 &lt; 4 h)</a:t>
                      </a:r>
                    </a:p>
                    <a:p>
                      <a:r>
                        <a:t>• Random root waving &amp; directional skewing</a:t>
                      </a:r>
                    </a:p>
                    <a:p>
                      <a:r>
                        <a:t>• Normal plastid greening under PAR</a:t>
                      </a:r>
                    </a:p>
                    <a:p>
                      <a:r>
                        <a:t>• Localized apoplastic ROS (RBOHD/F)</a:t>
                      </a:r>
                    </a:p>
                  </a:txBody>
                  <a:tcPr anchor="ctr">
                    <a:solidFill>
                      <a:srgbClr val="F8FAFC"/>
                    </a:solidFill>
                  </a:tcPr>
                </a:tc>
                <a:tc>
                  <a:txBody>
                    <a:bodyPr/>
                    <a:lstStyle/>
                    <a:p>
                      <a:pPr>
                        <a:defRPr sz="819">
                          <a:solidFill>
                            <a:srgbClr val="0F172A"/>
                          </a:solidFill>
                        </a:defRPr>
                      </a:pPr>
                      <a:r>
                        <a:t>• Fully rescued by onboard 1g centrifuge controls.</a:t>
                      </a:r>
                    </a:p>
                    <a:p>
                      <a:r>
                        <a:t>• Completely insensitive to static magnetic field manipulation.</a:t>
                      </a:r>
                    </a:p>
                    <a:p>
                      <a:r>
                        <a:t>• Quantified via camera morphometry.</a:t>
                      </a:r>
                    </a:p>
                  </a:txBody>
                  <a:tcPr anchor="ctr">
                    <a:solidFill>
                      <a:srgbClr val="F8FAFC"/>
                    </a:solidFill>
                  </a:tcPr>
                </a:tc>
              </a:tr>
              <a:tr h="1120140">
                <a:tc>
                  <a:txBody>
                    <a:bodyPr/>
                    <a:lstStyle/>
                    <a:p>
                      <a:pPr>
                        <a:defRPr sz="900" b="1">
                          <a:solidFill>
                            <a:srgbClr val="D97706"/>
                          </a:solidFill>
                        </a:defRPr>
                      </a:pPr>
                      <a:r>
                        <a:t>Deep-Space Radiation</a:t>
                      </a:r>
                    </a:p>
                    <a:p>
                      <a:r>
                        <a:t>(GCR / SPE)</a:t>
                      </a:r>
                    </a:p>
                  </a:txBody>
                  <a:tcPr anchor="ctr">
                    <a:solidFill>
                      <a:srgbClr val="FEF3C7"/>
                    </a:solidFill>
                  </a:tcPr>
                </a:tc>
                <a:tc>
                  <a:txBody>
                    <a:bodyPr/>
                    <a:lstStyle/>
                    <a:p>
                      <a:pPr>
                        <a:defRPr sz="850">
                          <a:solidFill>
                            <a:srgbClr val="0F172A"/>
                          </a:solidFill>
                        </a:defRPr>
                      </a:pPr>
                      <a:r>
                        <a:t>Direct nuclear DNA ionization;</a:t>
                      </a:r>
                    </a:p>
                    <a:p>
                      <a:r>
                        <a:t>Radiolysis of H2O producing •OH;</a:t>
                      </a:r>
                    </a:p>
                    <a:p>
                      <a:r>
                        <a:t>Oxidation of Fe-S clusters.</a:t>
                      </a:r>
                    </a:p>
                  </a:txBody>
                  <a:tcPr anchor="ctr">
                    <a:solidFill>
                      <a:srgbClr val="F8FAFC"/>
                    </a:solidFill>
                  </a:tcPr>
                </a:tc>
                <a:tc>
                  <a:txBody>
                    <a:bodyPr/>
                    <a:lstStyle/>
                    <a:p>
                      <a:pPr>
                        <a:defRPr sz="800">
                          <a:solidFill>
                            <a:srgbClr val="0F172A"/>
                          </a:solidFill>
                        </a:defRPr>
                      </a:pPr>
                      <a:r>
                        <a:t>• Emergence failure only at lethal doses</a:t>
                      </a:r>
                    </a:p>
                    <a:p>
                      <a:r>
                        <a:t>• Mitotic apical cell cycle arrest</a:t>
                      </a:r>
                    </a:p>
                    <a:p>
                      <a:r>
                        <a:t>• Severe chromosomal aberrations</a:t>
                      </a:r>
                    </a:p>
                    <a:p>
                      <a:r>
                        <a:t>• High γ-H2AX phosphorylated foci</a:t>
                      </a:r>
                    </a:p>
                    <a:p>
                      <a:r>
                        <a:t>• Marked lipid peroxidation (MDA)</a:t>
                      </a:r>
                    </a:p>
                  </a:txBody>
                  <a:tcPr anchor="ctr">
                    <a:solidFill>
                      <a:srgbClr val="F8FAFC"/>
                    </a:solidFill>
                  </a:tcPr>
                </a:tc>
                <a:tc>
                  <a:txBody>
                    <a:bodyPr/>
                    <a:lstStyle/>
                    <a:p>
                      <a:pPr>
                        <a:defRPr sz="819">
                          <a:solidFill>
                            <a:srgbClr val="0F172A"/>
                          </a:solidFill>
                        </a:defRPr>
                      </a:pPr>
                      <a:r>
                        <a:t>• Mitigated by passive polyethylene or water-wall shielding.</a:t>
                      </a:r>
                    </a:p>
                    <a:p>
                      <a:r>
                        <a:t>• Independent of magnetic coils or centrifuges.</a:t>
                      </a:r>
                    </a:p>
                    <a:p>
                      <a:r>
                        <a:t>• Directly calibrated against active dosimeter telemetry (Gy).</a:t>
                      </a:r>
                    </a:p>
                  </a:txBody>
                  <a:tcPr anchor="ctr">
                    <a:solidFill>
                      <a:srgbClr val="F8FAFC"/>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13 of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14 of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missions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15 of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(79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Missions LEAF Perspective        Slide 16 of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