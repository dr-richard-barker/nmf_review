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71"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188"/>
    <p:restoredTop sz="78392"/>
  </p:normalViewPr>
  <p:slideViewPr>
    <p:cSldViewPr snapToGrid="0" snapToObjects="1">
      <p:cViewPr>
        <p:scale>
          <a:sx n="150" d="100"/>
          <a:sy n="150" d="100"/>
        </p:scale>
        <p:origin x="216" y="3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17691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TALKING POINTS (SLIDE 1 - TITLE):</a:t>
            </a:r>
          </a:p>
          <a:p>
            <a:r>
              <a:t>• Welcome everyone. Today we are presenting our comprehensive review manuscript prepared for Life Sciences in Space Research.</a:t>
            </a:r>
          </a:p>
          <a:p>
            <a:r>
              <a:t>• The title is 'Near-Null Magnetic Fields in Lunar Plant Biology: The First Five Days of Seedling Growth, Multi-Stressor Bioenergetics, and Implications for Artemis Agriculture'.</a:t>
            </a:r>
          </a:p>
          <a:p>
            <a:r>
              <a:t>• Co-authored with Marshall Porterfield, Caue Borlina, Aubrey O'Rourke, Ray Wheeler and Gioia Massa at NASA KSC, Barbara Demmig-Adams at CU Boulder, and Christine Chamberlain at Space Lab Technologies.</a:t>
            </a:r>
          </a:p>
          <a:p>
            <a:r>
              <a:t>• Central theme: While gravitational unloading and ionizing radiation dominate the space biology literature, the local magnetic field environment at the biological volume is virtually never controlled or characterized. On the lunar surface, this field drops to an extreme near-null magnetic field (&lt;0.8 nT at Artemis candidate landing sites), posing significant developmental risks during the critical first 5 days of crop establishment.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TALKING POINTS (SLIDE 2 - NARRATIVE OVERVIEW):</a:t>
            </a:r>
          </a:p>
          <a:p>
            <a:r>
              <a:t>• This slide sets the narrative stage for the entire presentation.</a:t>
            </a:r>
          </a:p>
          <a:p>
            <a:r>
              <a:t>• For 60 years, plant spaceflight experiments have focused almost exclusively on gravity and ionizing radiation.</a:t>
            </a:r>
          </a:p>
          <a:p>
            <a:r>
              <a:t>• In contrast, the magnetic field is typically treated as a neutral background constant. On Earth and the ISS in LEO, plants develop inside the Earth's geomagnetic field (25–65 µT).</a:t>
            </a:r>
          </a:p>
          <a:p>
            <a:r>
              <a:t>• But on the Moon and in deep space, that protective field disappears. At candidate Artemis South Pole landing sites, the field is less than 0.8 nT.</a:t>
            </a:r>
          </a:p>
          <a:p>
            <a:r>
              <a:t>• We focus specifically on the first 5 days of growth (0–120 hours). This is the mission-critical window when seeds must imbibe water, mobilize reserves, germinate, break testa, and turn green to become photosynthetic.</a:t>
            </a:r>
          </a:p>
          <a:p>
            <a:r>
              <a:t>• We tie this to quantum biology via cryptochromes, and show how exploration atmospheres and radiation converge on mitochondrial bioenergetics.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TALKING POINTS (SLIDE 3 - FIGURE 1 MONTAGE):</a:t>
            </a:r>
          </a:p>
          <a:p>
            <a:r>
              <a:rPr dirty="0"/>
              <a:t>• Here is Figure 1 exactly as it appears in the manuscript, but reconstructed with independent, editable subpanels.</a:t>
            </a:r>
          </a:p>
          <a:p>
            <a:r>
              <a:rPr dirty="0"/>
              <a:t>• Panel (a) shows the global crustal magnetic field map from Lunar Prospector and Kaguya data at 30 km altitude. Notice that remanent crustal magnetization is concentrated in isolated swirls, while the South Polar region (dashed red box) is an extreme magnetic void.</a:t>
            </a:r>
          </a:p>
          <a:p>
            <a:r>
              <a:rPr dirty="0"/>
              <a:t>• Panel (b) zooms into the candidate Artemis South Pole landing sites. All sites, including Shackleton, Faustini Rim A, Haworth, and Connecting Ridge, fall strictly below 0.82 </a:t>
            </a:r>
            <a:r>
              <a:rPr dirty="0" err="1"/>
              <a:t>nT.</a:t>
            </a:r>
            <a:endParaRPr dirty="0"/>
          </a:p>
          <a:p>
            <a:r>
              <a:rPr dirty="0"/>
              <a:t>• Panel (c) compares these sites across Apollo, Chang'e, and Artemis missions against Earth's field. Earth's dipolar field is 25,000–65,000 </a:t>
            </a:r>
            <a:r>
              <a:rPr dirty="0" err="1"/>
              <a:t>nT</a:t>
            </a:r>
            <a:r>
              <a:rPr dirty="0"/>
              <a:t>—over 30,000 times higher!</a:t>
            </a:r>
          </a:p>
          <a:p>
            <a:r>
              <a:rPr dirty="0"/>
              <a:t>• Panel (d) highlights a crucial operational trap: the net vector superposition. Unshielded lander avionics and DC power buses can emit 50–500 µT, completely swamping the natural lunar </a:t>
            </a:r>
            <a:r>
              <a:rPr dirty="0" err="1"/>
              <a:t>hypomagnetic</a:t>
            </a:r>
            <a:r>
              <a:rPr dirty="0"/>
              <a:t> vacuum unless sample-level 3-axis fluxgate magnetometers are deployed.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TALKING POINTS (SLIDE 4 - FIGURE 1 DEEP DIVE):</a:t>
            </a:r>
          </a:p>
          <a:p>
            <a:r>
              <a:t>• Let's dive deeper into the physics of the lunar landing sites.</a:t>
            </a:r>
          </a:p>
          <a:p>
            <a:r>
              <a:t>• Notice from Table 1 that every single candidate landing site for Artemis III and future Artemis missions has a crustal magnetic field below 1 nanotesla.</a:t>
            </a:r>
          </a:p>
          <a:p>
            <a:r>
              <a:t>• Haworth is at 0.40 nT; Faustini Rim A is at 0.45 nT; Peak Near Shackleton is 0.82 nT.</a:t>
            </a:r>
          </a:p>
          <a:p>
            <a:r>
              <a:t>• Compare that to Apollo 16 Descartes highlands, where local crustal anomalies reach 4.94 nT, or Earth where the field is 50,000 nT.</a:t>
            </a:r>
          </a:p>
          <a:p>
            <a:r>
              <a:t>• But here is the critical engineering challenge: look at the superposition equation at the bottom left.</a:t>
            </a:r>
          </a:p>
          <a:p>
            <a:r>
              <a:t>• If a plant growth payload like LEAF is bolted to an unshielded lander deck, the DC currents from battery buses and avionics produce magnetic fields up to 500 µT right at the chamber wall!</a:t>
            </a:r>
          </a:p>
          <a:p>
            <a:r>
              <a:t>• That would completely mask the lunar near-null field. That's why our paper makes the strong operational recommendation: you MUST put a 3-axis fluxgate sensor directly inside the specimen volume.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TALKING POINTS (SLIDE 5 - FIGURE 2 MONTAGE):</a:t>
            </a:r>
          </a:p>
          <a:p>
            <a:r>
              <a:rPr dirty="0"/>
              <a:t>• Figure 2 focuses on the biological core of the paper: the first 5 days of growth (0–120 hours).</a:t>
            </a:r>
          </a:p>
          <a:p>
            <a:r>
              <a:rPr dirty="0"/>
              <a:t>• Panel (a) breaks down the developmental timeline into 4 distinct phases: Phase I imbibition (0–12 h), Phase II peroxisomal catabolism (12–48 h), Phase III radicle emergence (48–72 h), and Phase IV de-etiolation and autotrophic greening (72–120 h).</a:t>
            </a:r>
          </a:p>
          <a:p>
            <a:r>
              <a:rPr dirty="0"/>
              <a:t>• Panel (b) shows empirical germination kinetics. Under near-null magnetic fields, two critical defects occur: first, the total number of germinated seeds drops by 10–30%; second, the emergence speed (t50) is delayed by 12–36 hours.</a:t>
            </a:r>
          </a:p>
          <a:p>
            <a:r>
              <a:rPr dirty="0"/>
              <a:t>• Panel (c) shows the vegetative yield consequences: radicle elongation is reduced by 33%, hypocotyl height by 31%, and total fresh/dry biomass by 28.5% on Day 5.</a:t>
            </a:r>
          </a:p>
          <a:p>
            <a:r>
              <a:rPr dirty="0"/>
              <a:t>• Panel (d) maps the molecular pathway: cryptochromes perceive blue light and form radical pairs. Under near-null fields, HY5 transcription factor stabilization is impaired, downregulating rate-limiting chlorophyll genes (HEMA1, POR) and anthocyanin genes (CHS, CHI), creating severe seedling chlorosis.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TALKING POINTS (SLIDE 6 - FIGURE 2 DEEP DIVE):</a:t>
            </a:r>
          </a:p>
          <a:p>
            <a:r>
              <a:t>• Why does a delay of 12 to 36 hours in germination matter on the Moon?</a:t>
            </a:r>
          </a:p>
          <a:p>
            <a:r>
              <a:t>• In field agriculture on Earth, seeds have excess time and buffer. In a tightly scheduled spaceflight payload like LEAF on Artemis III, or a lunar greenhouse, mission timelines are strictly constrained.</a:t>
            </a:r>
          </a:p>
          <a:p>
            <a:r>
              <a:t>• LEAF is designed for a nominal mission duration of around 7 to 10 days. If seed germination is delayed by 36 hours, you lose 30% to 50% of your autotrophic growth window!</a:t>
            </a:r>
          </a:p>
          <a:p>
            <a:r>
              <a:t>• Furthermore, at the cellular level, near-null fields reduce cell division in the root apical meristem and disrupt PIN2 auxin carriers. That means roots grow slower, are more disoriented, and absorb water and nutrients less efficiently.</a:t>
            </a:r>
          </a:p>
          <a:p>
            <a:r>
              <a:t>• The resulting 28% drop in biomass is not an academic curiosity—it is a direct hit to the caloric and nutrient yield of space crops.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TALKING POINTS (SLIDE 7 - FIGURE 3 MONTAGE):</a:t>
            </a:r>
          </a:p>
          <a:p>
            <a:r>
              <a:rPr dirty="0"/>
              <a:t>• In Figure 3, we address the biophysical mechanism: How can an ambient magnetic field of less than 1 nanotesla produce measurable macroscopic changes in plant growth?</a:t>
            </a:r>
          </a:p>
          <a:p>
            <a:r>
              <a:rPr dirty="0"/>
              <a:t>• Thermal energy at room temperature (</a:t>
            </a:r>
            <a:r>
              <a:rPr dirty="0" err="1"/>
              <a:t>k_B</a:t>
            </a:r>
            <a:r>
              <a:rPr dirty="0"/>
              <a:t> * T) is orders of magnitude larger than magnetic Zeeman energy. Traditional thermodynamic arguments claimed magnetic fields couldn't affect biology.</a:t>
            </a:r>
          </a:p>
          <a:p>
            <a:r>
              <a:rPr dirty="0"/>
              <a:t>• The radical pair mechanism circumvents this thermodynamic equilibrium constraint. When cryptochromes absorb blue light, they form transient radical pairs between flavin adenine dinucleotide (FAD) and a triad of tryptophan residues.</a:t>
            </a:r>
          </a:p>
          <a:p>
            <a:r>
              <a:rPr dirty="0"/>
              <a:t>• Panel (a) illustrates the metabolic highway: triacylglycerols in peroxisomes undergo beta-oxidation, producing succinate which enters the mitochondrial electron transport chain.</a:t>
            </a:r>
          </a:p>
          <a:p>
            <a:r>
              <a:rPr dirty="0"/>
              <a:t>• Panel (b) introduces our rigorous 4-tier evidentiary hierarchy: T1 represents demonstrated quantum biology in cryptochromes; T2 represents plausible enzymatic radical pairs; T3 and T4 are speculative or context-based.</a:t>
            </a:r>
          </a:p>
          <a:p>
            <a:r>
              <a:rPr dirty="0"/>
              <a:t>• Panel (c) shows how chloroplasts and mitochondria act as the dual bioenergetic hubs that absorb these quantum perturbations.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TALKING POINTS (SLIDE 8 - FIGURE 3 DEEP DIVE):</a:t>
            </a:r>
          </a:p>
          <a:p>
            <a:r>
              <a:t>• This slide is essential for defending our paper against skeptical reviewers.</a:t>
            </a:r>
          </a:p>
          <a:p>
            <a:r>
              <a:t>• Often when people hear 'quantum biology', they immediately think of speculative claims about macroscopic room-temperature coherence.</a:t>
            </a:r>
          </a:p>
          <a:p>
            <a:r>
              <a:t>• We make it crystal clear: Cryptochrome magnetoreception is grounded in rigorous spin chemistry, established over 20 years by Ritz, Hore, Ahmad, and others.</a:t>
            </a:r>
          </a:p>
          <a:p>
            <a:r>
              <a:t>• The radical pair [FAD•- ... TrpH•+] lives for microseconds. During that brief nanosecond-to-microsecond window, the electron spins are entangled. The presence or absence of an external magnetic field changes whether the pair recombines as a singlet or diffuses as a triplet.</a:t>
            </a:r>
          </a:p>
          <a:p>
            <a:r>
              <a:t>• In near-null fields, that interconversion is shifted, which alters the lifetime of the signaling state of cryptochrome.</a:t>
            </a:r>
          </a:p>
          <a:p>
            <a:r>
              <a:t>• This directly explains why cryptochrome-regulated genes like HY5, HEMA1, and CHS are downregulated in hypomagnetic chambers!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TALKING POINTS (SLIDE 9 - FIGURE 4 MONTAGE):</a:t>
            </a:r>
          </a:p>
          <a:p>
            <a:r>
              <a:rPr dirty="0"/>
              <a:t>• Figure 4 brings together the environmental multi-stressor nexus.</a:t>
            </a:r>
          </a:p>
          <a:p>
            <a:r>
              <a:rPr dirty="0"/>
              <a:t>• In real exploration missions, plants will not experience </a:t>
            </a:r>
            <a:r>
              <a:rPr dirty="0" err="1"/>
              <a:t>hypomagnetic</a:t>
            </a:r>
            <a:r>
              <a:rPr dirty="0"/>
              <a:t> fields in isolation. They will face them simultaneously with NASA's exploration atmosphere (56.5 kPa / 8.2 psia, 34% O2, and 1200–3000 ppm CO2) and chronic GCR radiation.</a:t>
            </a:r>
          </a:p>
          <a:p>
            <a:r>
              <a:rPr dirty="0"/>
              <a:t>• Panel (a) contrasts these baseline environmental parameters.</a:t>
            </a:r>
          </a:p>
          <a:p>
            <a:r>
              <a:rPr dirty="0"/>
              <a:t>• Panel (b) shows how these stressors interact at the biochemical level. Elevated CO2 suppresses </a:t>
            </a:r>
            <a:r>
              <a:rPr dirty="0" err="1"/>
              <a:t>RuBisCO</a:t>
            </a:r>
            <a:r>
              <a:rPr dirty="0"/>
              <a:t> oxygenation, shutting down peroxisomal H2O2 production. That shifts the electron burden onto mitochondria. When the ubiquinone pool becomes over-reduced, electrons leak, forming superoxide.</a:t>
            </a:r>
          </a:p>
          <a:p>
            <a:r>
              <a:rPr dirty="0"/>
              <a:t>• Alternative Oxidase (AOX1D) acts as an uncoupled safety valve, directly dumping electrons to oxygen without ATP synthesis to prevent ROS bursts.</a:t>
            </a:r>
          </a:p>
          <a:p>
            <a:r>
              <a:rPr dirty="0"/>
              <a:t>• In Panel (c), we validate this empirically: NASA OSDR dataset OSD-782 (ionizing radiation) and </a:t>
            </a:r>
            <a:r>
              <a:rPr dirty="0" err="1"/>
              <a:t>Parmagnani</a:t>
            </a:r>
            <a:r>
              <a:rPr dirty="0"/>
              <a:t> 2022 (near-null magnetic field) show concordant upregulation of AOX1D and CAT3.</a:t>
            </a:r>
          </a:p>
          <a:p>
            <a:r>
              <a:rPr dirty="0"/>
              <a:t>• Panel (d) reveals the profound cross-kingdom parallel: human astronauts in the NASA Twins Study and Cell 2020 multi-omics exhibit the exact same mitochondrial stress phenotype!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TALKING POINTS (SLIDE 10 - FIGURE 4 DEEP DIVE):</a:t>
            </a:r>
          </a:p>
          <a:p>
            <a:r>
              <a:t>• This cross-kingdom connection is one of the most exciting takeaways of our review paper.</a:t>
            </a:r>
          </a:p>
          <a:p>
            <a:r>
              <a:t>• In 2020, Afshinnekoo and a large international team published a landmark paper in Cell analyzing 29 spaceflight omics datasets.</a:t>
            </a:r>
          </a:p>
          <a:p>
            <a:r>
              <a:t>• They found that whether you look at astronaut muscle, liver, immune cells, or mouse models, mitochondrial dysregulation is the central master biomarker of spaceflight stress.</a:t>
            </a:r>
          </a:p>
          <a:p>
            <a:r>
              <a:t>• In plants, mitochondria face the exact same problem: hypobaric atmospheres, radiation, and near-null magnetic fields all force electron leakage at Complexes I and III.</a:t>
            </a:r>
          </a:p>
          <a:p>
            <a:r>
              <a:t>• Plants survive this using Alternative Oxidase (AOX1D), which vents excess electrons. Humans do not have AOX, and therefore suffer severe mitochondrial oxidative damage.</a:t>
            </a:r>
          </a:p>
          <a:p>
            <a:r>
              <a:t>• This elevates plant space biology from an isolated agricultural study to a fundamental pillar of comparative space bioenergetics.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TALKING POINTS (SLIDE 11 - FIGURE 5 MONTAGE):</a:t>
            </a:r>
          </a:p>
          <a:p>
            <a:r>
              <a:rPr dirty="0"/>
              <a:t>• Figure 5 is our operational blueprint for NASA and commercial spaceflight developers.</a:t>
            </a:r>
          </a:p>
          <a:p>
            <a:r>
              <a:rPr dirty="0"/>
              <a:t>• Panel (a) lays out our 3-chamber ground simulation standard. Historically, studies compared an ambient room to a mu-metal box without controlling for ohmic heat or fan airflow. We mandate: Chamber 1 (GMF control), Chamber 2 (Shielded/Cancelled NNMF), and Chamber 3 (Bifilar sham control with current matched but net magnetic field zero).</a:t>
            </a:r>
          </a:p>
          <a:p>
            <a:r>
              <a:rPr dirty="0"/>
              <a:t>• Panel (b) illustrates flight hardware integration. A miniature 3-axis fluxgate sensor (0.1 </a:t>
            </a:r>
            <a:r>
              <a:rPr dirty="0" err="1"/>
              <a:t>nT</a:t>
            </a:r>
            <a:r>
              <a:rPr dirty="0"/>
              <a:t> resolution) placed equidistant between seedling cassettes records real-time exposure.</a:t>
            </a:r>
          </a:p>
          <a:p>
            <a:r>
              <a:rPr dirty="0"/>
              <a:t>• Panel (c) is the causal rescue protocol: Re-applying a 45 µT vector inside the chamber rescues germination speed and HY5 pigment accumulation, establishing definitive causal proof.</a:t>
            </a:r>
          </a:p>
          <a:p>
            <a:r>
              <a:rPr dirty="0"/>
              <a:t>• Panel (d) defines predeclared operational flight decision gates: Green, Amber, and Red.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TALKING POINTS (SLIDE 12 - TABLE 3 DEEP DIVE):</a:t>
            </a:r>
          </a:p>
          <a:p>
            <a:r>
              <a:t>• This is Table 3 from the paper, built as a native PowerPoint table so you can edit the numbers or thresholds directly for specific payload proposals.</a:t>
            </a:r>
          </a:p>
          <a:p>
            <a:r>
              <a:t>• Spaceflight payload teams often struggle because decision criteria are not declared in advance. If seedlings don't emerge as planned on the Moon, payload operators are caught off guard.</a:t>
            </a:r>
          </a:p>
          <a:p>
            <a:r>
              <a:t>• Green Gate represents nominal science: field is below 5 nT, germination is normal (≥85%), we proceed autonomously.</a:t>
            </a:r>
          </a:p>
          <a:p>
            <a:r>
              <a:t>• Amber Gate is triggered if field ripples between 5 and 50 nT, or if emergence lags by 18 hours. We increase optical imaging frequency and correlate with lander bus power telemetry.</a:t>
            </a:r>
          </a:p>
          <a:p>
            <a:r>
              <a:t>• Red Gate is our contingency countermeasure: If germination drops by more than 30%, or seedlings exhibit severe chlorosis, the ground team commands the activation of active 45 µT Helmholtz coils to re-apply Earth's geomagnetic field.</a:t>
            </a:r>
          </a:p>
          <a:p>
            <a:r>
              <a:t>• This rescues crop viability and provides an ironclad causal demonstration.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TALKING POINTS (SLIDE 13 - GRAPHICAL ABSTRACT):</a:t>
            </a:r>
          </a:p>
          <a:p>
            <a:r>
              <a:t>• If you have only two minutes to pitch this paper to an executive or conference audience, this slide tells the entire story.</a:t>
            </a:r>
          </a:p>
          <a:p>
            <a:r>
              <a:t>• Panel 1 (The Lunar Reality): As missions travel beyond low Earth orbit to the Moon, ambient magnetic fields collapse from Earth's 50 µT to less than 0.8 nT at Artemis South Pole sites. This variable is currently unmonitored in flight payloads.</a:t>
            </a:r>
          </a:p>
          <a:p>
            <a:r>
              <a:t>• Panel 2 (The 0–5 Day Vulnerability): Removal of the geomagnetic field causes delayed water uptake, a 12–36 hour emergence velocity lag, a 28% biomass yield loss, and cryptochrome-driven chlorosis.</a:t>
            </a:r>
          </a:p>
          <a:p>
            <a:r>
              <a:t>• Panel 3 (The Solution): We establish a standard flight risk-retirement protocol: in-situ 3-axis magnetometry, 3-chamber ground controls, active causal rescue coils, and predeclared Green/Amber/Red operational decision gates.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TALKING POINTS (SLIDE 14 - DISCUSSION &amp; ROADMAP):</a:t>
            </a:r>
          </a:p>
          <a:p>
            <a:r>
              <a:t>• Now I'd like to open up the floor to the group for discussion around these three strategic questions.</a:t>
            </a:r>
          </a:p>
          <a:p>
            <a:r>
              <a:t>• First: Hardware integration. In LEAF, space is tight. Can we place miniature commercial fluxgate sensors inside the cassette volume, or should they be mounted externally with a calibrated transfer function?</a:t>
            </a:r>
          </a:p>
          <a:p>
            <a:r>
              <a:t>• Second: Genetic tolerance and seed priming. Are there specific cultivars that don't suffer the 28% biomass deficit? Can we prime seeds on Earth with specific magnetic exposures prior to launch?</a:t>
            </a:r>
          </a:p>
          <a:p>
            <a:r>
              <a:t>• Third: Future lunar infrastructure. If long-term lunar greenhouses are built at Shackleton Crater, should active magnetic coils be part of the baseline environmental control system alongside lighting and HVAC?</a:t>
            </a:r>
          </a:p>
          <a:p>
            <a:r>
              <a:t>• Let's hear your thoughts.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TALKING POINTS (SLIDE 15 - APPENDIX &amp; OPEN SCIENCE):</a:t>
            </a:r>
          </a:p>
          <a:p>
            <a:r>
              <a:t>• Finally, this slide documents all open science assets and repository deliverables.</a:t>
            </a:r>
          </a:p>
          <a:p>
            <a:r>
              <a:t>• Everything we've shown today is fully open, reproducible, and tracked in Git.</a:t>
            </a:r>
          </a:p>
          <a:p>
            <a:r>
              <a:t>• The compiled Word document is ready for co-authors to edit.</a:t>
            </a:r>
          </a:p>
          <a:p>
            <a:r>
              <a:t>• The CoSE web portal is live at dr-richard-barker.github.io/NMF_review.</a:t>
            </a:r>
          </a:p>
          <a:p>
            <a:r>
              <a:t>• All datasets trace directly to NASA OSDR accessions and Lunar Prospector/Kaguya orbital magnetometer archives.</a:t>
            </a:r>
          </a:p>
          <a:p>
            <a:r>
              <a:t>• Thank you to all co-authors across Purdue, NASA KSC, CU Boulder, and Space Lab Technologies. Looking forward to your feedback!</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731520" y="731520"/>
            <a:ext cx="10728655" cy="5303520"/>
          </a:xfrm>
          <a:prstGeom prst="roundRect">
            <a:avLst/>
          </a:prstGeom>
          <a:solidFill>
            <a:srgbClr val="132B4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1005840"/>
            <a:ext cx="7315200" cy="365760"/>
          </a:xfrm>
          <a:prstGeom prst="rect">
            <a:avLst/>
          </a:prstGeom>
          <a:noFill/>
        </p:spPr>
        <p:txBody>
          <a:bodyPr wrap="none">
            <a:spAutoFit/>
          </a:bodyPr>
          <a:lstStyle/>
          <a:p>
            <a:pPr>
              <a:defRPr sz="1000" b="1">
                <a:solidFill>
                  <a:srgbClr val="38BDF8"/>
                </a:solidFill>
              </a:defRPr>
            </a:pPr>
            <a:r>
              <a:rPr dirty="0"/>
              <a:t>COSPAR / ELSEVIER REVIEW ARTICLE — ARTEMIS III LEAF PERSPECTIVE</a:t>
            </a:r>
          </a:p>
        </p:txBody>
      </p:sp>
      <p:sp>
        <p:nvSpPr>
          <p:cNvPr id="4" name="TextBox 3"/>
          <p:cNvSpPr txBox="1"/>
          <p:nvPr/>
        </p:nvSpPr>
        <p:spPr>
          <a:xfrm>
            <a:off x="1097280" y="1371600"/>
            <a:ext cx="9875520" cy="646331"/>
          </a:xfrm>
          <a:prstGeom prst="rect">
            <a:avLst/>
          </a:prstGeom>
          <a:noFill/>
        </p:spPr>
        <p:txBody>
          <a:bodyPr wrap="square">
            <a:spAutoFit/>
          </a:bodyPr>
          <a:lstStyle/>
          <a:p>
            <a:pPr>
              <a:defRPr sz="2800" b="1">
                <a:solidFill>
                  <a:srgbClr val="F8FAFC"/>
                </a:solidFill>
              </a:defRPr>
            </a:pPr>
            <a:r>
              <a:rPr sz="3600" dirty="0"/>
              <a:t>Near-Null Magnetic Fields in Lunar Plant Biology</a:t>
            </a:r>
          </a:p>
        </p:txBody>
      </p:sp>
      <p:sp>
        <p:nvSpPr>
          <p:cNvPr id="5" name="TextBox 4"/>
          <p:cNvSpPr txBox="1"/>
          <p:nvPr/>
        </p:nvSpPr>
        <p:spPr>
          <a:xfrm>
            <a:off x="1097280" y="2651760"/>
            <a:ext cx="9875520" cy="338554"/>
          </a:xfrm>
          <a:prstGeom prst="rect">
            <a:avLst/>
          </a:prstGeom>
          <a:noFill/>
        </p:spPr>
        <p:txBody>
          <a:bodyPr wrap="square">
            <a:spAutoFit/>
          </a:bodyPr>
          <a:lstStyle/>
          <a:p>
            <a:pPr>
              <a:defRPr sz="1400" i="1">
                <a:solidFill>
                  <a:srgbClr val="CBD5E1"/>
                </a:solidFill>
              </a:defRPr>
            </a:pPr>
            <a:r>
              <a:rPr sz="1600" dirty="0"/>
              <a:t>The First Five Days of Seedling Growth, Multi-Stressor Bioenergetics, and Implications for Artemis Agriculture</a:t>
            </a:r>
          </a:p>
        </p:txBody>
      </p:sp>
      <p:sp>
        <p:nvSpPr>
          <p:cNvPr id="6" name="TextBox 5"/>
          <p:cNvSpPr txBox="1"/>
          <p:nvPr/>
        </p:nvSpPr>
        <p:spPr>
          <a:xfrm>
            <a:off x="1097280" y="3474720"/>
            <a:ext cx="9875520" cy="1200329"/>
          </a:xfrm>
          <a:prstGeom prst="rect">
            <a:avLst/>
          </a:prstGeom>
          <a:noFill/>
        </p:spPr>
        <p:txBody>
          <a:bodyPr wrap="square">
            <a:spAutoFit/>
          </a:bodyPr>
          <a:lstStyle/>
          <a:p>
            <a:pPr>
              <a:defRPr sz="1050" b="1">
                <a:solidFill>
                  <a:srgbClr val="F8FAFC"/>
                </a:solidFill>
              </a:defRPr>
            </a:pPr>
            <a:r>
              <a:rPr sz="1600" dirty="0"/>
              <a:t>D. Marshall Porterfield*, Richard J. Barker*, </a:t>
            </a:r>
            <a:r>
              <a:rPr sz="1600" dirty="0" err="1"/>
              <a:t>Caue</a:t>
            </a:r>
            <a:r>
              <a:rPr sz="1600" dirty="0"/>
              <a:t> </a:t>
            </a:r>
            <a:r>
              <a:rPr sz="1600" dirty="0" err="1"/>
              <a:t>Borlina</a:t>
            </a:r>
            <a:r>
              <a:rPr sz="1600" dirty="0"/>
              <a:t>, Aubrey O’Rourke, Adriana Sanchez, Manisha Dagar,</a:t>
            </a:r>
            <a:br>
              <a:rPr sz="1600" dirty="0"/>
            </a:br>
            <a:r>
              <a:rPr sz="1600" dirty="0"/>
              <a:t>Sofia Leiva Aldana, Ray Wheeler, Gioia Massa, Barbara </a:t>
            </a:r>
            <a:r>
              <a:rPr sz="1600" dirty="0" err="1"/>
              <a:t>Demmig</a:t>
            </a:r>
            <a:r>
              <a:rPr sz="1600" dirty="0"/>
              <a:t>-Adams, Marta </a:t>
            </a:r>
            <a:r>
              <a:rPr sz="1600" dirty="0" err="1"/>
              <a:t>Peirats</a:t>
            </a:r>
            <a:r>
              <a:rPr sz="1600" dirty="0"/>
              <a:t>-Llobet, Pamela Flores, Anirudha Dixit, Christine Chamberlain</a:t>
            </a:r>
          </a:p>
          <a:p>
            <a:pPr>
              <a:defRPr sz="950">
                <a:solidFill>
                  <a:srgbClr val="94A3B8"/>
                </a:solidFill>
              </a:defRPr>
            </a:pPr>
            <a:r>
              <a:rPr sz="1200" dirty="0"/>
              <a:t>Purdue University • NASA John F. Kennedy Space Center • University of Colorado Boulder • Space Lab Technologies</a:t>
            </a:r>
            <a:br>
              <a:rPr sz="1200" dirty="0"/>
            </a:br>
            <a:r>
              <a:rPr sz="1200" dirty="0"/>
              <a:t>*Corresponding Authors: </a:t>
            </a:r>
            <a:r>
              <a:rPr sz="1200" dirty="0" err="1"/>
              <a:t>porterf@purdue.edu</a:t>
            </a:r>
            <a:r>
              <a:rPr sz="1200" dirty="0"/>
              <a:t>, </a:t>
            </a:r>
            <a:r>
              <a:rPr sz="1200" dirty="0" err="1"/>
              <a:t>dr.richard.barker@gmail.com</a:t>
            </a:r>
            <a:endParaRPr sz="1200" dirty="0"/>
          </a:p>
        </p:txBody>
      </p:sp>
      <p:sp>
        <p:nvSpPr>
          <p:cNvPr id="7" name="TextBox 6"/>
          <p:cNvSpPr txBox="1"/>
          <p:nvPr/>
        </p:nvSpPr>
        <p:spPr>
          <a:xfrm>
            <a:off x="1097280" y="5120640"/>
            <a:ext cx="9875520" cy="548640"/>
          </a:xfrm>
          <a:prstGeom prst="rect">
            <a:avLst/>
          </a:prstGeom>
          <a:noFill/>
        </p:spPr>
        <p:txBody>
          <a:bodyPr wrap="none">
            <a:spAutoFit/>
          </a:bodyPr>
          <a:lstStyle/>
          <a:p>
            <a:pPr>
              <a:defRPr sz="900" b="1">
                <a:solidFill>
                  <a:srgbClr val="94A3B8"/>
                </a:solidFill>
              </a:defRPr>
            </a:pPr>
            <a:r>
              <a:t>Target Journal: Life Sciences in Space Research (LSSR)  |  Mission Context: Artemis III LEAF Payload  |  FAIR Repository &amp; CoSE Portal Ready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466760-9724-2FEF-4BBF-278FA64F7B69}"/>
              </a:ext>
            </a:extLst>
          </p:cNvPr>
          <p:cNvSpPr txBox="1"/>
          <p:nvPr/>
        </p:nvSpPr>
        <p:spPr>
          <a:xfrm>
            <a:off x="731520" y="1591056"/>
            <a:ext cx="10362895" cy="1415772"/>
          </a:xfrm>
          <a:prstGeom prst="rect">
            <a:avLst/>
          </a:prstGeom>
          <a:noFill/>
        </p:spPr>
        <p:txBody>
          <a:bodyPr wrap="square">
            <a:spAutoFit/>
          </a:bodyPr>
          <a:lstStyle/>
          <a:p>
            <a:pPr>
              <a:defRPr sz="950" b="1">
                <a:solidFill>
                  <a:srgbClr val="0284C7"/>
                </a:solidFill>
              </a:defRPr>
            </a:pPr>
            <a:r>
              <a:rPr sz="1600" dirty="0"/>
              <a:t>THE 5 CORE CONCEPTS INTEGRATED INTO THIS REVIEW:</a:t>
            </a:r>
          </a:p>
          <a:p>
            <a:pPr>
              <a:defRPr sz="880">
                <a:solidFill>
                  <a:srgbClr val="0F172A"/>
                </a:solidFill>
              </a:defRPr>
            </a:pPr>
            <a:r>
              <a:rPr sz="1400" dirty="0"/>
              <a:t>1. Lunar Near-Null Reality (&lt;0.8 </a:t>
            </a:r>
            <a:r>
              <a:rPr sz="1400" dirty="0" err="1"/>
              <a:t>nT</a:t>
            </a:r>
            <a:r>
              <a:rPr sz="1400" dirty="0"/>
              <a:t>)  </a:t>
            </a:r>
            <a:endParaRPr lang="en-US" sz="1400" dirty="0"/>
          </a:p>
          <a:p>
            <a:pPr>
              <a:defRPr sz="880">
                <a:solidFill>
                  <a:srgbClr val="0F172A"/>
                </a:solidFill>
              </a:defRPr>
            </a:pPr>
            <a:r>
              <a:rPr sz="1400" dirty="0"/>
              <a:t>2. Altered Germination Capacity (# Seedlings)  </a:t>
            </a:r>
            <a:endParaRPr lang="en-US" sz="1400" dirty="0"/>
          </a:p>
          <a:p>
            <a:pPr>
              <a:defRPr sz="880">
                <a:solidFill>
                  <a:srgbClr val="0F172A"/>
                </a:solidFill>
              </a:defRPr>
            </a:pPr>
            <a:r>
              <a:rPr sz="1400" dirty="0"/>
              <a:t>3. Delayed Emergence Velocity &amp; Biomass Yield</a:t>
            </a:r>
            <a:br>
              <a:rPr sz="1400" dirty="0"/>
            </a:br>
            <a:r>
              <a:rPr sz="1400" dirty="0"/>
              <a:t>4. Cryptochrome/HY5 Pigment Repression  </a:t>
            </a:r>
            <a:endParaRPr lang="en-US" sz="1400" dirty="0"/>
          </a:p>
          <a:p>
            <a:pPr>
              <a:defRPr sz="880">
                <a:solidFill>
                  <a:srgbClr val="0F172A"/>
                </a:solidFill>
              </a:defRPr>
            </a:pPr>
            <a:r>
              <a:rPr sz="1400" dirty="0"/>
              <a:t>5. Multi-Stressor</a:t>
            </a:r>
            <a:r>
              <a:rPr lang="en-US" sz="1400" dirty="0"/>
              <a:t>s impact core REDOX equilibrium (</a:t>
            </a:r>
            <a:r>
              <a:rPr sz="1400" dirty="0"/>
              <a:t>CO2 ↔ O2 ↔ ROS</a:t>
            </a:r>
            <a:r>
              <a:rPr lang="en-US" sz="1400" dirty="0"/>
              <a:t>) </a:t>
            </a:r>
            <a:r>
              <a:rPr sz="1400" dirty="0"/>
              <a:t>Convergence with Radiation &amp; Astronaut Parallels</a:t>
            </a:r>
          </a:p>
        </p:txBody>
      </p:sp>
      <p:sp>
        <p:nvSpPr>
          <p:cNvPr id="3" name="TextBox 2">
            <a:extLst>
              <a:ext uri="{FF2B5EF4-FFF2-40B4-BE49-F238E27FC236}">
                <a16:creationId xmlns:a16="http://schemas.microsoft.com/office/drawing/2014/main" id="{E8FE01EE-A08D-FD0A-3EBC-13FC496AC59C}"/>
              </a:ext>
            </a:extLst>
          </p:cNvPr>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EXECUTIVE NARRATIVE</a:t>
            </a:r>
          </a:p>
        </p:txBody>
      </p:sp>
      <p:sp>
        <p:nvSpPr>
          <p:cNvPr id="4" name="TextBox 3">
            <a:extLst>
              <a:ext uri="{FF2B5EF4-FFF2-40B4-BE49-F238E27FC236}">
                <a16:creationId xmlns:a16="http://schemas.microsoft.com/office/drawing/2014/main" id="{21A8CB34-82FD-8A50-3327-58591E730509}"/>
              </a:ext>
            </a:extLst>
          </p:cNvPr>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Missing Variable in Space Agriculture</a:t>
            </a:r>
          </a:p>
        </p:txBody>
      </p:sp>
      <p:sp>
        <p:nvSpPr>
          <p:cNvPr id="5" name="TextBox 4">
            <a:extLst>
              <a:ext uri="{FF2B5EF4-FFF2-40B4-BE49-F238E27FC236}">
                <a16:creationId xmlns:a16="http://schemas.microsoft.com/office/drawing/2014/main" id="{8250FBF8-5893-F690-DDC1-96893E77F0D0}"/>
              </a:ext>
            </a:extLst>
          </p:cNvPr>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rPr dirty="0"/>
              <a:t>Geomagnetic field removal is a neglected primary stressor with major consequences for lunar crop production</a:t>
            </a:r>
          </a:p>
        </p:txBody>
      </p:sp>
    </p:spTree>
    <p:extLst>
      <p:ext uri="{BB962C8B-B14F-4D97-AF65-F5344CB8AC3E}">
        <p14:creationId xmlns:p14="http://schemas.microsoft.com/office/powerpoint/2010/main" val="2851556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EXECUTIVE NARRATIVE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Missing Variable in Space Agriculture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rPr dirty="0"/>
              <a:t>Geomagnetic field removal is a neglected primary stressor with major consequences for lunar crop production</a:t>
            </a:r>
          </a:p>
        </p:txBody>
      </p:sp>
      <p:sp>
        <p:nvSpPr>
          <p:cNvPr id="5" name="Rounded Rectangle 4"/>
          <p:cNvSpPr/>
          <p:nvPr/>
        </p:nvSpPr>
        <p:spPr>
          <a:xfrm>
            <a:off x="731520" y="1600200"/>
            <a:ext cx="3413455" cy="32918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737360"/>
            <a:ext cx="3047695" cy="2739211"/>
          </a:xfrm>
          <a:prstGeom prst="rect">
            <a:avLst/>
          </a:prstGeom>
          <a:noFill/>
        </p:spPr>
        <p:txBody>
          <a:bodyPr wrap="square">
            <a:spAutoFit/>
          </a:bodyPr>
          <a:lstStyle/>
          <a:p>
            <a:pPr>
              <a:defRPr sz="1150" b="1">
                <a:solidFill>
                  <a:srgbClr val="0284C7"/>
                </a:solidFill>
              </a:defRPr>
            </a:pPr>
            <a:r>
              <a:rPr sz="1400" dirty="0"/>
              <a:t>1. The Physical Reality: Lunar Void (&lt;0.8 </a:t>
            </a:r>
            <a:r>
              <a:rPr sz="1400" dirty="0" err="1"/>
              <a:t>nT</a:t>
            </a:r>
            <a:r>
              <a:rPr sz="1400" dirty="0"/>
              <a:t>)</a:t>
            </a:r>
          </a:p>
          <a:p>
            <a:pPr>
              <a:defRPr sz="950">
                <a:solidFill>
                  <a:srgbClr val="0F172A"/>
                </a:solidFill>
              </a:defRPr>
            </a:pPr>
            <a:r>
              <a:rPr sz="1600" dirty="0"/>
              <a:t>• Earth dipolar field: 25,000–65,000 </a:t>
            </a:r>
            <a:r>
              <a:rPr sz="1600" dirty="0" err="1"/>
              <a:t>nT.</a:t>
            </a:r>
            <a:br>
              <a:rPr sz="1600" dirty="0"/>
            </a:br>
            <a:r>
              <a:rPr sz="1600" dirty="0"/>
              <a:t>• Lunar South Pole candidate sites: &lt;0.8 </a:t>
            </a:r>
            <a:r>
              <a:rPr sz="1600" dirty="0" err="1"/>
              <a:t>nT</a:t>
            </a:r>
            <a:r>
              <a:rPr sz="1600" dirty="0"/>
              <a:t> (&gt;30,000× lower).</a:t>
            </a:r>
            <a:br>
              <a:rPr sz="1600" dirty="0"/>
            </a:br>
            <a:r>
              <a:rPr sz="1600" dirty="0"/>
              <a:t>• Spacecraft DC bus interference (50–500 µT) can mask this </a:t>
            </a:r>
            <a:r>
              <a:rPr sz="1600" dirty="0" err="1"/>
              <a:t>hypomagnetic</a:t>
            </a:r>
            <a:r>
              <a:rPr sz="1600" dirty="0"/>
              <a:t> vacuum unless sample-level 3-axis fluxgate sensing is deployed.</a:t>
            </a:r>
          </a:p>
        </p:txBody>
      </p:sp>
      <p:sp>
        <p:nvSpPr>
          <p:cNvPr id="7" name="Rounded Rectangle 6"/>
          <p:cNvSpPr/>
          <p:nvPr/>
        </p:nvSpPr>
        <p:spPr>
          <a:xfrm>
            <a:off x="4389120" y="1600200"/>
            <a:ext cx="3413455" cy="32918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0" y="1737360"/>
            <a:ext cx="3047695" cy="2985433"/>
          </a:xfrm>
          <a:prstGeom prst="rect">
            <a:avLst/>
          </a:prstGeom>
          <a:noFill/>
        </p:spPr>
        <p:txBody>
          <a:bodyPr wrap="square">
            <a:spAutoFit/>
          </a:bodyPr>
          <a:lstStyle/>
          <a:p>
            <a:pPr>
              <a:defRPr sz="1150" b="1">
                <a:solidFill>
                  <a:srgbClr val="DC2626"/>
                </a:solidFill>
              </a:defRPr>
            </a:pPr>
            <a:r>
              <a:rPr sz="1400" dirty="0"/>
              <a:t>2. The First 5 Days: The Developmental Bottleneck</a:t>
            </a:r>
          </a:p>
          <a:p>
            <a:pPr>
              <a:defRPr sz="950">
                <a:solidFill>
                  <a:srgbClr val="0F172A"/>
                </a:solidFill>
              </a:defRPr>
            </a:pPr>
            <a:r>
              <a:rPr sz="1600" dirty="0"/>
              <a:t>• 0–120 hours post-imbibition dictates crop establishment.</a:t>
            </a:r>
            <a:br>
              <a:rPr sz="1600" dirty="0"/>
            </a:br>
            <a:r>
              <a:rPr sz="1600" dirty="0"/>
              <a:t>• Suppresses germination capacity (-10% to -30% count).</a:t>
            </a:r>
            <a:br>
              <a:rPr sz="1600" dirty="0"/>
            </a:br>
            <a:r>
              <a:rPr sz="1600" dirty="0"/>
              <a:t>• Retards emergence speed (t50 lag of 12–36 hours).</a:t>
            </a:r>
            <a:br>
              <a:rPr sz="1600" dirty="0"/>
            </a:br>
            <a:r>
              <a:rPr sz="1600" dirty="0"/>
              <a:t>• Represses chlorophyll &amp; anthocyanin biosynthesis via CRY1/HY5, resulting in severe seedling chlorosis.</a:t>
            </a:r>
          </a:p>
        </p:txBody>
      </p:sp>
      <p:sp>
        <p:nvSpPr>
          <p:cNvPr id="9" name="Rounded Rectangle 8"/>
          <p:cNvSpPr/>
          <p:nvPr/>
        </p:nvSpPr>
        <p:spPr>
          <a:xfrm>
            <a:off x="8046720" y="1600200"/>
            <a:ext cx="3413455" cy="32918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599" y="1737360"/>
            <a:ext cx="3230575" cy="2985433"/>
          </a:xfrm>
          <a:prstGeom prst="rect">
            <a:avLst/>
          </a:prstGeom>
          <a:noFill/>
        </p:spPr>
        <p:txBody>
          <a:bodyPr wrap="square">
            <a:spAutoFit/>
          </a:bodyPr>
          <a:lstStyle/>
          <a:p>
            <a:pPr>
              <a:defRPr sz="1150" b="1">
                <a:solidFill>
                  <a:srgbClr val="16A34A"/>
                </a:solidFill>
              </a:defRPr>
            </a:pPr>
            <a:r>
              <a:rPr sz="1400" dirty="0"/>
              <a:t>3. Multi-Stressor Convergence on Mitochondria</a:t>
            </a:r>
          </a:p>
          <a:p>
            <a:pPr>
              <a:defRPr sz="950">
                <a:solidFill>
                  <a:srgbClr val="0F172A"/>
                </a:solidFill>
              </a:defRPr>
            </a:pPr>
            <a:r>
              <a:rPr sz="1600" dirty="0"/>
              <a:t>• Exploration atmosphere (56.5 kPa, 34% O2, high CO2) suppresses photorespiratory peroxisomal H2O2.</a:t>
            </a:r>
            <a:br>
              <a:rPr sz="1600" dirty="0"/>
            </a:br>
            <a:r>
              <a:rPr sz="1600" dirty="0"/>
              <a:t>• Electron burden shifts to mitochondria, causing ubiquinone (UQ) over-reduction.</a:t>
            </a:r>
            <a:br>
              <a:rPr sz="1600" dirty="0"/>
            </a:br>
            <a:r>
              <a:rPr sz="1600" dirty="0"/>
              <a:t>• Alternative Oxidase (AOX1D) induced to vent excess electrons; directly parallels human astronaut mitochondrial stress.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1136" y="201168"/>
            <a:ext cx="10728655" cy="320040"/>
          </a:xfrm>
          <a:prstGeom prst="rect">
            <a:avLst/>
          </a:prstGeom>
          <a:noFill/>
        </p:spPr>
        <p:txBody>
          <a:bodyPr wrap="square">
            <a:spAutoFit/>
          </a:bodyPr>
          <a:lstStyle/>
          <a:p>
            <a:pPr>
              <a:defRPr sz="950" b="1">
                <a:solidFill>
                  <a:srgbClr val="0284C7"/>
                </a:solidFill>
              </a:defRPr>
            </a:pPr>
            <a:r>
              <a:rPr dirty="0"/>
              <a:t>FIGURE 1 MONTAGE | EDITABLE LAYOUT</a:t>
            </a:r>
          </a:p>
        </p:txBody>
      </p:sp>
      <p:sp>
        <p:nvSpPr>
          <p:cNvPr id="3" name="TextBox 2"/>
          <p:cNvSpPr txBox="1"/>
          <p:nvPr/>
        </p:nvSpPr>
        <p:spPr>
          <a:xfrm>
            <a:off x="281136" y="493776"/>
            <a:ext cx="10728655" cy="502920"/>
          </a:xfrm>
          <a:prstGeom prst="rect">
            <a:avLst/>
          </a:prstGeom>
          <a:noFill/>
        </p:spPr>
        <p:txBody>
          <a:bodyPr wrap="square">
            <a:spAutoFit/>
          </a:bodyPr>
          <a:lstStyle/>
          <a:p>
            <a:pPr>
              <a:defRPr sz="2000" b="1">
                <a:solidFill>
                  <a:srgbClr val="0F172A"/>
                </a:solidFill>
              </a:defRPr>
            </a:pPr>
            <a:r>
              <a:t>The Lunar Surface Magnetic Environment &amp; Exploration Sites</a:t>
            </a:r>
          </a:p>
        </p:txBody>
      </p:sp>
      <p:sp>
        <p:nvSpPr>
          <p:cNvPr id="4" name="TextBox 3"/>
          <p:cNvSpPr txBox="1"/>
          <p:nvPr/>
        </p:nvSpPr>
        <p:spPr>
          <a:xfrm>
            <a:off x="281136" y="950976"/>
            <a:ext cx="10728655" cy="365760"/>
          </a:xfrm>
          <a:prstGeom prst="rect">
            <a:avLst/>
          </a:prstGeom>
          <a:noFill/>
        </p:spPr>
        <p:txBody>
          <a:bodyPr wrap="square">
            <a:spAutoFit/>
          </a:bodyPr>
          <a:lstStyle/>
          <a:p>
            <a:pPr>
              <a:defRPr sz="1100" i="1">
                <a:solidFill>
                  <a:srgbClr val="475569"/>
                </a:solidFill>
              </a:defRPr>
            </a:pPr>
            <a:r>
              <a:t>Global distribution, South Polar Artemis void (&lt;0.8 nT), and vector superposition at the biological volume</a:t>
            </a:r>
          </a:p>
        </p:txBody>
      </p:sp>
      <p:pic>
        <p:nvPicPr>
          <p:cNvPr id="6" name="Picture 5" descr="Fig1a_global_map.png"/>
          <p:cNvPicPr>
            <a:picLocks noChangeAspect="1"/>
          </p:cNvPicPr>
          <p:nvPr/>
        </p:nvPicPr>
        <p:blipFill>
          <a:blip r:embed="rId3"/>
          <a:stretch>
            <a:fillRect/>
          </a:stretch>
        </p:blipFill>
        <p:spPr>
          <a:xfrm>
            <a:off x="444131" y="1535584"/>
            <a:ext cx="5698109" cy="2579215"/>
          </a:xfrm>
          <a:prstGeom prst="rect">
            <a:avLst/>
          </a:prstGeom>
        </p:spPr>
      </p:pic>
      <p:sp>
        <p:nvSpPr>
          <p:cNvPr id="7" name="TextBox 6"/>
          <p:cNvSpPr txBox="1"/>
          <p:nvPr/>
        </p:nvSpPr>
        <p:spPr>
          <a:xfrm>
            <a:off x="868680" y="1241212"/>
            <a:ext cx="5103705" cy="307777"/>
          </a:xfrm>
          <a:prstGeom prst="rect">
            <a:avLst/>
          </a:prstGeom>
          <a:noFill/>
        </p:spPr>
        <p:txBody>
          <a:bodyPr wrap="none">
            <a:spAutoFit/>
          </a:bodyPr>
          <a:lstStyle/>
          <a:p>
            <a:pPr>
              <a:defRPr sz="900" b="1">
                <a:solidFill>
                  <a:srgbClr val="0284C7"/>
                </a:solidFill>
              </a:defRPr>
            </a:pPr>
            <a:r>
              <a:rPr sz="1400" dirty="0"/>
              <a:t>(a) Global Lunar Crustal Magnetic Field Distribution (|B| at 30 km)</a:t>
            </a:r>
          </a:p>
        </p:txBody>
      </p:sp>
      <p:pic>
        <p:nvPicPr>
          <p:cNvPr id="9" name="Picture 8" descr="Fig1b_south_pole_artemis.png"/>
          <p:cNvPicPr>
            <a:picLocks noChangeAspect="1"/>
          </p:cNvPicPr>
          <p:nvPr/>
        </p:nvPicPr>
        <p:blipFill>
          <a:blip r:embed="rId4"/>
          <a:stretch>
            <a:fillRect/>
          </a:stretch>
        </p:blipFill>
        <p:spPr>
          <a:xfrm>
            <a:off x="6111242" y="1515531"/>
            <a:ext cx="5698109" cy="2514601"/>
          </a:xfrm>
          <a:prstGeom prst="rect">
            <a:avLst/>
          </a:prstGeom>
        </p:spPr>
      </p:pic>
      <p:sp>
        <p:nvSpPr>
          <p:cNvPr id="10" name="TextBox 9"/>
          <p:cNvSpPr txBox="1"/>
          <p:nvPr/>
        </p:nvSpPr>
        <p:spPr>
          <a:xfrm>
            <a:off x="6385255" y="1241212"/>
            <a:ext cx="4624536" cy="307777"/>
          </a:xfrm>
          <a:prstGeom prst="rect">
            <a:avLst/>
          </a:prstGeom>
          <a:noFill/>
        </p:spPr>
        <p:txBody>
          <a:bodyPr wrap="none">
            <a:spAutoFit/>
          </a:bodyPr>
          <a:lstStyle/>
          <a:p>
            <a:pPr>
              <a:defRPr sz="900" b="1">
                <a:solidFill>
                  <a:srgbClr val="0284C7"/>
                </a:solidFill>
              </a:defRPr>
            </a:pPr>
            <a:r>
              <a:rPr sz="1400"/>
              <a:t>(b) Artemis South Polar Exploration Footprint (&lt;0.8 nT Void)</a:t>
            </a:r>
          </a:p>
        </p:txBody>
      </p:sp>
      <p:pic>
        <p:nvPicPr>
          <p:cNvPr id="12" name="Picture 11" descr="Fig1c_landing_sites_bar.png"/>
          <p:cNvPicPr>
            <a:picLocks noChangeAspect="1"/>
          </p:cNvPicPr>
          <p:nvPr/>
        </p:nvPicPr>
        <p:blipFill>
          <a:blip r:embed="rId5"/>
          <a:stretch>
            <a:fillRect/>
          </a:stretch>
        </p:blipFill>
        <p:spPr>
          <a:xfrm>
            <a:off x="458529" y="4389120"/>
            <a:ext cx="5698109" cy="2468880"/>
          </a:xfrm>
          <a:prstGeom prst="rect">
            <a:avLst/>
          </a:prstGeom>
        </p:spPr>
      </p:pic>
      <p:sp>
        <p:nvSpPr>
          <p:cNvPr id="13" name="TextBox 12"/>
          <p:cNvSpPr txBox="1"/>
          <p:nvPr/>
        </p:nvSpPr>
        <p:spPr>
          <a:xfrm>
            <a:off x="868680" y="4114800"/>
            <a:ext cx="4983159" cy="307777"/>
          </a:xfrm>
          <a:prstGeom prst="rect">
            <a:avLst/>
          </a:prstGeom>
          <a:noFill/>
        </p:spPr>
        <p:txBody>
          <a:bodyPr wrap="none">
            <a:spAutoFit/>
          </a:bodyPr>
          <a:lstStyle/>
          <a:p>
            <a:pPr>
              <a:defRPr sz="900" b="1">
                <a:solidFill>
                  <a:srgbClr val="0284C7"/>
                </a:solidFill>
              </a:defRPr>
            </a:pPr>
            <a:r>
              <a:rPr sz="1400"/>
              <a:t>(c) Field Magnitude at Historical &amp; Candidate Sites vs. Earth GMF</a:t>
            </a:r>
          </a:p>
        </p:txBody>
      </p:sp>
      <p:pic>
        <p:nvPicPr>
          <p:cNvPr id="15" name="Picture 14" descr="Fig1d_superposition_box.png"/>
          <p:cNvPicPr>
            <a:picLocks noChangeAspect="1"/>
          </p:cNvPicPr>
          <p:nvPr/>
        </p:nvPicPr>
        <p:blipFill>
          <a:blip r:embed="rId6"/>
          <a:stretch>
            <a:fillRect/>
          </a:stretch>
        </p:blipFill>
        <p:spPr>
          <a:xfrm>
            <a:off x="6142240" y="4389120"/>
            <a:ext cx="5698109" cy="2468880"/>
          </a:xfrm>
          <a:prstGeom prst="rect">
            <a:avLst/>
          </a:prstGeom>
        </p:spPr>
      </p:pic>
      <p:sp>
        <p:nvSpPr>
          <p:cNvPr id="16" name="TextBox 15"/>
          <p:cNvSpPr txBox="1"/>
          <p:nvPr/>
        </p:nvSpPr>
        <p:spPr>
          <a:xfrm>
            <a:off x="6385255" y="4114800"/>
            <a:ext cx="4472315" cy="307777"/>
          </a:xfrm>
          <a:prstGeom prst="rect">
            <a:avLst/>
          </a:prstGeom>
          <a:noFill/>
        </p:spPr>
        <p:txBody>
          <a:bodyPr wrap="none">
            <a:spAutoFit/>
          </a:bodyPr>
          <a:lstStyle/>
          <a:p>
            <a:pPr>
              <a:defRPr sz="900" b="1">
                <a:solidFill>
                  <a:srgbClr val="0284C7"/>
                </a:solidFill>
              </a:defRPr>
            </a:pPr>
            <a:r>
              <a:rPr sz="1400"/>
              <a:t>(d) Vector Superposition &amp; Lander DC Interference Hazard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8855" y="182880"/>
            <a:ext cx="10728655" cy="320040"/>
          </a:xfrm>
          <a:prstGeom prst="rect">
            <a:avLst/>
          </a:prstGeom>
          <a:noFill/>
        </p:spPr>
        <p:txBody>
          <a:bodyPr wrap="square">
            <a:spAutoFit/>
          </a:bodyPr>
          <a:lstStyle/>
          <a:p>
            <a:pPr>
              <a:defRPr sz="950" b="1">
                <a:solidFill>
                  <a:srgbClr val="0284C7"/>
                </a:solidFill>
              </a:defRPr>
            </a:pPr>
            <a:r>
              <a:rPr dirty="0"/>
              <a:t>FIGURE 1 DEEP DIVE</a:t>
            </a:r>
          </a:p>
        </p:txBody>
      </p:sp>
      <p:sp>
        <p:nvSpPr>
          <p:cNvPr id="3" name="TextBox 2"/>
          <p:cNvSpPr txBox="1"/>
          <p:nvPr/>
        </p:nvSpPr>
        <p:spPr>
          <a:xfrm>
            <a:off x="138854" y="466344"/>
            <a:ext cx="10728655" cy="502920"/>
          </a:xfrm>
          <a:prstGeom prst="rect">
            <a:avLst/>
          </a:prstGeom>
          <a:noFill/>
        </p:spPr>
        <p:txBody>
          <a:bodyPr wrap="square">
            <a:spAutoFit/>
          </a:bodyPr>
          <a:lstStyle/>
          <a:p>
            <a:pPr>
              <a:defRPr sz="2000" b="1">
                <a:solidFill>
                  <a:srgbClr val="0F172A"/>
                </a:solidFill>
              </a:defRPr>
            </a:pPr>
            <a:r>
              <a:rPr dirty="0"/>
              <a:t>Planetary Magnetic Fields &amp; The Lander Interference Trap</a:t>
            </a:r>
          </a:p>
        </p:txBody>
      </p:sp>
      <p:sp>
        <p:nvSpPr>
          <p:cNvPr id="4" name="TextBox 3"/>
          <p:cNvSpPr txBox="1"/>
          <p:nvPr/>
        </p:nvSpPr>
        <p:spPr>
          <a:xfrm>
            <a:off x="138855" y="932688"/>
            <a:ext cx="10728655" cy="365760"/>
          </a:xfrm>
          <a:prstGeom prst="rect">
            <a:avLst/>
          </a:prstGeom>
          <a:noFill/>
        </p:spPr>
        <p:txBody>
          <a:bodyPr wrap="square">
            <a:spAutoFit/>
          </a:bodyPr>
          <a:lstStyle/>
          <a:p>
            <a:pPr>
              <a:defRPr sz="1100" i="1">
                <a:solidFill>
                  <a:srgbClr val="475569"/>
                </a:solidFill>
              </a:defRPr>
            </a:pPr>
            <a:r>
              <a:t>Why in-situ 3-axis fluxgate magnetometry is essential to decouple lunar biology from spacecraft avionics</a:t>
            </a:r>
          </a:p>
        </p:txBody>
      </p:sp>
      <p:pic>
        <p:nvPicPr>
          <p:cNvPr id="6" name="Picture 5" descr="Fig1b_south_pole_artemis.png"/>
          <p:cNvPicPr>
            <a:picLocks noChangeAspect="1"/>
          </p:cNvPicPr>
          <p:nvPr/>
        </p:nvPicPr>
        <p:blipFill>
          <a:blip r:embed="rId3"/>
          <a:stretch>
            <a:fillRect/>
          </a:stretch>
        </p:blipFill>
        <p:spPr>
          <a:xfrm>
            <a:off x="6427891" y="324551"/>
            <a:ext cx="5625254" cy="3026444"/>
          </a:xfrm>
          <a:prstGeom prst="rect">
            <a:avLst/>
          </a:prstGeom>
        </p:spPr>
      </p:pic>
      <p:pic>
        <p:nvPicPr>
          <p:cNvPr id="8" name="Picture 7" descr="Fig1d_superposition_box.png"/>
          <p:cNvPicPr>
            <a:picLocks noChangeAspect="1"/>
          </p:cNvPicPr>
          <p:nvPr/>
        </p:nvPicPr>
        <p:blipFill>
          <a:blip r:embed="rId4"/>
          <a:stretch>
            <a:fillRect/>
          </a:stretch>
        </p:blipFill>
        <p:spPr>
          <a:xfrm>
            <a:off x="6427891" y="3350995"/>
            <a:ext cx="5625254" cy="3324125"/>
          </a:xfrm>
          <a:prstGeom prst="rect">
            <a:avLst/>
          </a:prstGeom>
        </p:spPr>
      </p:pic>
      <p:sp>
        <p:nvSpPr>
          <p:cNvPr id="10" name="TextBox 9"/>
          <p:cNvSpPr txBox="1"/>
          <p:nvPr/>
        </p:nvSpPr>
        <p:spPr>
          <a:xfrm>
            <a:off x="138854" y="1453896"/>
            <a:ext cx="5195147" cy="4508927"/>
          </a:xfrm>
          <a:prstGeom prst="rect">
            <a:avLst/>
          </a:prstGeom>
          <a:noFill/>
        </p:spPr>
        <p:txBody>
          <a:bodyPr wrap="square">
            <a:spAutoFit/>
          </a:bodyPr>
          <a:lstStyle/>
          <a:p>
            <a:pPr>
              <a:defRPr sz="1100" b="1">
                <a:solidFill>
                  <a:srgbClr val="0284C7"/>
                </a:solidFill>
              </a:defRPr>
            </a:pPr>
            <a:r>
              <a:rPr dirty="0"/>
              <a:t>TABLE 1: CANDIDATE ARTEMIS SITES VS. HISTORICAL SITES</a:t>
            </a:r>
          </a:p>
          <a:p>
            <a:pPr>
              <a:defRPr sz="950">
                <a:solidFill>
                  <a:srgbClr val="0F172A"/>
                </a:solidFill>
              </a:defRPr>
            </a:pPr>
            <a:r>
              <a:rPr sz="1200" dirty="0"/>
              <a:t>• Faustini Rim A: 0.45 </a:t>
            </a:r>
            <a:r>
              <a:rPr sz="1200" dirty="0" err="1"/>
              <a:t>nT</a:t>
            </a:r>
            <a:r>
              <a:rPr sz="1200" dirty="0"/>
              <a:t> (Near-null void)</a:t>
            </a:r>
            <a:br>
              <a:rPr sz="1200" dirty="0"/>
            </a:br>
            <a:r>
              <a:rPr sz="1200" dirty="0"/>
              <a:t>• Haworth Crater: 0.40 </a:t>
            </a:r>
            <a:r>
              <a:rPr sz="1200" dirty="0" err="1"/>
              <a:t>nT</a:t>
            </a:r>
            <a:r>
              <a:rPr sz="1200" dirty="0"/>
              <a:t> (Deep near-null void)</a:t>
            </a:r>
            <a:br>
              <a:rPr sz="1200" dirty="0"/>
            </a:br>
            <a:r>
              <a:rPr sz="1200" dirty="0"/>
              <a:t>• Connecting Ridge: 0.60 </a:t>
            </a:r>
            <a:r>
              <a:rPr sz="1200" dirty="0" err="1"/>
              <a:t>nT</a:t>
            </a:r>
            <a:r>
              <a:rPr sz="1200" dirty="0"/>
              <a:t> (Near-null void)</a:t>
            </a:r>
            <a:br>
              <a:rPr sz="1200" dirty="0"/>
            </a:br>
            <a:r>
              <a:rPr sz="1200" dirty="0"/>
              <a:t>• Peak Near Shackleton: 0.82 </a:t>
            </a:r>
            <a:r>
              <a:rPr sz="1200" dirty="0" err="1"/>
              <a:t>nT</a:t>
            </a:r>
            <a:r>
              <a:rPr sz="1200" dirty="0"/>
              <a:t> (Near-null void)</a:t>
            </a:r>
            <a:br>
              <a:rPr sz="1200" dirty="0"/>
            </a:br>
            <a:r>
              <a:rPr sz="1200" dirty="0"/>
              <a:t>• Apollo 16 (Descartes): 4.94 </a:t>
            </a:r>
            <a:r>
              <a:rPr sz="1200" dirty="0" err="1"/>
              <a:t>nT</a:t>
            </a:r>
            <a:r>
              <a:rPr sz="1200" dirty="0"/>
              <a:t> (Crustal swirl paleomagnetism)</a:t>
            </a:r>
            <a:br>
              <a:rPr sz="1200" dirty="0"/>
            </a:br>
            <a:r>
              <a:rPr sz="1200" dirty="0"/>
              <a:t>• Earth Dipolar Surface: 25,000 – 65,000 </a:t>
            </a:r>
            <a:r>
              <a:rPr sz="1200" dirty="0" err="1"/>
              <a:t>nT</a:t>
            </a:r>
            <a:r>
              <a:rPr sz="1200" dirty="0"/>
              <a:t> (&gt;30,000× higher)</a:t>
            </a:r>
          </a:p>
          <a:p>
            <a:br>
              <a:rPr sz="3200" dirty="0"/>
            </a:br>
            <a:r>
              <a:rPr sz="3200" dirty="0"/>
              <a:t>THE CRITICAL SUPERPOSITION HAZARD:</a:t>
            </a:r>
          </a:p>
          <a:p>
            <a:pPr>
              <a:defRPr sz="919">
                <a:solidFill>
                  <a:srgbClr val="0F172A"/>
                </a:solidFill>
              </a:defRPr>
            </a:pPr>
            <a:r>
              <a:rPr sz="1200" dirty="0"/>
              <a:t>1. The Vector Equation:</a:t>
            </a:r>
            <a:br>
              <a:rPr sz="1200" dirty="0"/>
            </a:br>
            <a:r>
              <a:rPr sz="1200" dirty="0"/>
              <a:t>   </a:t>
            </a:r>
            <a:r>
              <a:rPr sz="1200" dirty="0" err="1"/>
              <a:t>B_total</a:t>
            </a:r>
            <a:r>
              <a:rPr sz="1200" dirty="0"/>
              <a:t>(t, x) = </a:t>
            </a:r>
            <a:r>
              <a:rPr sz="1200" dirty="0" err="1"/>
              <a:t>B_crust</a:t>
            </a:r>
            <a:r>
              <a:rPr sz="1200" dirty="0"/>
              <a:t> + </a:t>
            </a:r>
            <a:r>
              <a:rPr sz="1200" dirty="0" err="1"/>
              <a:t>B_ext</a:t>
            </a:r>
            <a:r>
              <a:rPr sz="1200" dirty="0"/>
              <a:t> + </a:t>
            </a:r>
            <a:r>
              <a:rPr sz="1200" dirty="0" err="1"/>
              <a:t>B_lander</a:t>
            </a:r>
            <a:r>
              <a:rPr sz="1200" dirty="0"/>
              <a:t> + </a:t>
            </a:r>
            <a:r>
              <a:rPr sz="1200" dirty="0" err="1"/>
              <a:t>B_payload</a:t>
            </a:r>
            <a:r>
              <a:rPr sz="1200" dirty="0"/>
              <a:t> + </a:t>
            </a:r>
            <a:r>
              <a:rPr sz="1200" dirty="0" err="1"/>
              <a:t>B_control</a:t>
            </a:r>
            <a:br>
              <a:rPr sz="1200" dirty="0"/>
            </a:br>
            <a:r>
              <a:rPr sz="1200" dirty="0"/>
              <a:t>2. The Lander Confounder:</a:t>
            </a:r>
            <a:br>
              <a:rPr sz="1200" dirty="0"/>
            </a:br>
            <a:r>
              <a:rPr sz="1200" dirty="0"/>
              <a:t>   Commercial lunar landers carry heavy DC power wiring, batteries, and reaction wheels that produce localized fields of 50–500 µT.</a:t>
            </a:r>
            <a:br>
              <a:rPr sz="1200" dirty="0"/>
            </a:br>
            <a:r>
              <a:rPr sz="1200" dirty="0"/>
              <a:t>3. The Operational Mandate:</a:t>
            </a:r>
            <a:br>
              <a:rPr sz="1200" dirty="0"/>
            </a:br>
            <a:r>
              <a:rPr sz="1200" dirty="0"/>
              <a:t>   Unless biological growth chambers feature sample-level 3-axis fluxgate telemetry, experiments risk measuring stray avionics EMI rather than true lunar near-null biology!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5053" y="175636"/>
            <a:ext cx="10728655" cy="320040"/>
          </a:xfrm>
          <a:prstGeom prst="rect">
            <a:avLst/>
          </a:prstGeom>
          <a:noFill/>
        </p:spPr>
        <p:txBody>
          <a:bodyPr wrap="square">
            <a:spAutoFit/>
          </a:bodyPr>
          <a:lstStyle/>
          <a:p>
            <a:pPr>
              <a:defRPr sz="950" b="1">
                <a:solidFill>
                  <a:srgbClr val="0284C7"/>
                </a:solidFill>
              </a:defRPr>
            </a:pPr>
            <a:r>
              <a:t>FIGURE 2 MONTAGE | EDITABLE LAYOUT</a:t>
            </a:r>
          </a:p>
        </p:txBody>
      </p:sp>
      <p:sp>
        <p:nvSpPr>
          <p:cNvPr id="3" name="TextBox 2"/>
          <p:cNvSpPr txBox="1"/>
          <p:nvPr/>
        </p:nvSpPr>
        <p:spPr>
          <a:xfrm>
            <a:off x="215053" y="468244"/>
            <a:ext cx="10728655" cy="502920"/>
          </a:xfrm>
          <a:prstGeom prst="rect">
            <a:avLst/>
          </a:prstGeom>
          <a:noFill/>
        </p:spPr>
        <p:txBody>
          <a:bodyPr wrap="square">
            <a:spAutoFit/>
          </a:bodyPr>
          <a:lstStyle/>
          <a:p>
            <a:pPr>
              <a:defRPr sz="2000" b="1">
                <a:solidFill>
                  <a:srgbClr val="0F172A"/>
                </a:solidFill>
              </a:defRPr>
            </a:pPr>
            <a:r>
              <a:t>The First 5 Days: Early Seedling Kinetics &amp; Pigment Formation</a:t>
            </a:r>
          </a:p>
        </p:txBody>
      </p:sp>
      <p:sp>
        <p:nvSpPr>
          <p:cNvPr id="4" name="TextBox 3"/>
          <p:cNvSpPr txBox="1"/>
          <p:nvPr/>
        </p:nvSpPr>
        <p:spPr>
          <a:xfrm>
            <a:off x="215053" y="925444"/>
            <a:ext cx="10728655" cy="365760"/>
          </a:xfrm>
          <a:prstGeom prst="rect">
            <a:avLst/>
          </a:prstGeom>
          <a:noFill/>
        </p:spPr>
        <p:txBody>
          <a:bodyPr wrap="square">
            <a:spAutoFit/>
          </a:bodyPr>
          <a:lstStyle/>
          <a:p>
            <a:pPr>
              <a:defRPr sz="1100" i="1">
                <a:solidFill>
                  <a:srgbClr val="475569"/>
                </a:solidFill>
              </a:defRPr>
            </a:pPr>
            <a:r>
              <a:t>0–120 h developmental trajectory, emergence velocity lag (t50), biomass yield penalties, and pigment repression</a:t>
            </a:r>
          </a:p>
        </p:txBody>
      </p:sp>
      <p:pic>
        <p:nvPicPr>
          <p:cNvPr id="6" name="Picture 5" descr="Fig2a_5day_timeline.png"/>
          <p:cNvPicPr>
            <a:picLocks noChangeAspect="1"/>
          </p:cNvPicPr>
          <p:nvPr/>
        </p:nvPicPr>
        <p:blipFill>
          <a:blip r:embed="rId3"/>
          <a:stretch>
            <a:fillRect/>
          </a:stretch>
        </p:blipFill>
        <p:spPr>
          <a:xfrm>
            <a:off x="344265" y="1645920"/>
            <a:ext cx="5698111" cy="2700864"/>
          </a:xfrm>
          <a:prstGeom prst="rect">
            <a:avLst/>
          </a:prstGeom>
        </p:spPr>
      </p:pic>
      <p:sp>
        <p:nvSpPr>
          <p:cNvPr id="7" name="TextBox 6"/>
          <p:cNvSpPr txBox="1"/>
          <p:nvPr/>
        </p:nvSpPr>
        <p:spPr>
          <a:xfrm>
            <a:off x="868680" y="1645920"/>
            <a:ext cx="4046942" cy="276999"/>
          </a:xfrm>
          <a:prstGeom prst="rect">
            <a:avLst/>
          </a:prstGeom>
          <a:noFill/>
        </p:spPr>
        <p:txBody>
          <a:bodyPr wrap="none">
            <a:spAutoFit/>
          </a:bodyPr>
          <a:lstStyle/>
          <a:p>
            <a:pPr>
              <a:defRPr sz="900" b="1">
                <a:solidFill>
                  <a:srgbClr val="0284C7"/>
                </a:solidFill>
              </a:defRPr>
            </a:pPr>
            <a:r>
              <a:rPr sz="1200" dirty="0"/>
              <a:t>(a) 5-Day Developmental Timeline: Imbibition to Autotrophy</a:t>
            </a:r>
          </a:p>
        </p:txBody>
      </p:sp>
      <p:pic>
        <p:nvPicPr>
          <p:cNvPr id="9" name="Picture 8" descr="Fig2b_germination_kinetics.png"/>
          <p:cNvPicPr>
            <a:picLocks noChangeAspect="1"/>
          </p:cNvPicPr>
          <p:nvPr/>
        </p:nvPicPr>
        <p:blipFill>
          <a:blip r:embed="rId4"/>
          <a:stretch>
            <a:fillRect/>
          </a:stretch>
        </p:blipFill>
        <p:spPr>
          <a:xfrm>
            <a:off x="6225049" y="1870155"/>
            <a:ext cx="5698111" cy="2341881"/>
          </a:xfrm>
          <a:prstGeom prst="rect">
            <a:avLst/>
          </a:prstGeom>
        </p:spPr>
      </p:pic>
      <p:sp>
        <p:nvSpPr>
          <p:cNvPr id="10" name="TextBox 9"/>
          <p:cNvSpPr txBox="1"/>
          <p:nvPr/>
        </p:nvSpPr>
        <p:spPr>
          <a:xfrm>
            <a:off x="6385255" y="1645920"/>
            <a:ext cx="4133760" cy="276999"/>
          </a:xfrm>
          <a:prstGeom prst="rect">
            <a:avLst/>
          </a:prstGeom>
          <a:noFill/>
        </p:spPr>
        <p:txBody>
          <a:bodyPr wrap="none">
            <a:spAutoFit/>
          </a:bodyPr>
          <a:lstStyle/>
          <a:p>
            <a:pPr>
              <a:defRPr sz="900" b="1">
                <a:solidFill>
                  <a:srgbClr val="0284C7"/>
                </a:solidFill>
              </a:defRPr>
            </a:pPr>
            <a:r>
              <a:rPr sz="1200"/>
              <a:t>(b) Germination Capacity (#) &amp; Kinetics Lag (t50: +12 to +36 h)</a:t>
            </a:r>
          </a:p>
        </p:txBody>
      </p:sp>
      <p:pic>
        <p:nvPicPr>
          <p:cNvPr id="12" name="Picture 11" descr="Fig2c_biomass_yield.png"/>
          <p:cNvPicPr>
            <a:picLocks noChangeAspect="1"/>
          </p:cNvPicPr>
          <p:nvPr/>
        </p:nvPicPr>
        <p:blipFill>
          <a:blip r:embed="rId5"/>
          <a:stretch>
            <a:fillRect/>
          </a:stretch>
        </p:blipFill>
        <p:spPr>
          <a:xfrm>
            <a:off x="344265" y="4346784"/>
            <a:ext cx="5698111" cy="2341881"/>
          </a:xfrm>
          <a:prstGeom prst="rect">
            <a:avLst/>
          </a:prstGeom>
        </p:spPr>
      </p:pic>
      <p:sp>
        <p:nvSpPr>
          <p:cNvPr id="13" name="TextBox 12"/>
          <p:cNvSpPr txBox="1"/>
          <p:nvPr/>
        </p:nvSpPr>
        <p:spPr>
          <a:xfrm>
            <a:off x="868680" y="4114800"/>
            <a:ext cx="4428648" cy="276999"/>
          </a:xfrm>
          <a:prstGeom prst="rect">
            <a:avLst/>
          </a:prstGeom>
          <a:noFill/>
        </p:spPr>
        <p:txBody>
          <a:bodyPr wrap="none">
            <a:spAutoFit/>
          </a:bodyPr>
          <a:lstStyle/>
          <a:p>
            <a:pPr>
              <a:defRPr sz="900" b="1">
                <a:solidFill>
                  <a:srgbClr val="0284C7"/>
                </a:solidFill>
              </a:defRPr>
            </a:pPr>
            <a:r>
              <a:rPr sz="1200"/>
              <a:t>(c) Seedling Elongation, Vigor &amp; Harvestable Biomass Yield Penalty</a:t>
            </a:r>
          </a:p>
        </p:txBody>
      </p:sp>
      <p:pic>
        <p:nvPicPr>
          <p:cNvPr id="15" name="Picture 14" descr="Fig2d_pigment_pathway.png"/>
          <p:cNvPicPr>
            <a:picLocks noChangeAspect="1"/>
          </p:cNvPicPr>
          <p:nvPr/>
        </p:nvPicPr>
        <p:blipFill>
          <a:blip r:embed="rId6"/>
          <a:stretch>
            <a:fillRect/>
          </a:stretch>
        </p:blipFill>
        <p:spPr>
          <a:xfrm>
            <a:off x="6077813" y="4254371"/>
            <a:ext cx="5698111" cy="2603629"/>
          </a:xfrm>
          <a:prstGeom prst="rect">
            <a:avLst/>
          </a:prstGeom>
        </p:spPr>
      </p:pic>
      <p:sp>
        <p:nvSpPr>
          <p:cNvPr id="16" name="TextBox 15"/>
          <p:cNvSpPr txBox="1"/>
          <p:nvPr/>
        </p:nvSpPr>
        <p:spPr>
          <a:xfrm>
            <a:off x="6385255" y="4114800"/>
            <a:ext cx="4152868" cy="276999"/>
          </a:xfrm>
          <a:prstGeom prst="rect">
            <a:avLst/>
          </a:prstGeom>
          <a:noFill/>
        </p:spPr>
        <p:txBody>
          <a:bodyPr wrap="none">
            <a:spAutoFit/>
          </a:bodyPr>
          <a:lstStyle/>
          <a:p>
            <a:pPr>
              <a:defRPr sz="900" b="1">
                <a:solidFill>
                  <a:srgbClr val="0284C7"/>
                </a:solidFill>
              </a:defRPr>
            </a:pPr>
            <a:r>
              <a:rPr sz="1200"/>
              <a:t>(d) Cryptochrome/HY5 Downregulation &amp; Pigment Repression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89653" y="118533"/>
            <a:ext cx="10728655" cy="320040"/>
          </a:xfrm>
          <a:prstGeom prst="rect">
            <a:avLst/>
          </a:prstGeom>
          <a:noFill/>
        </p:spPr>
        <p:txBody>
          <a:bodyPr wrap="square">
            <a:spAutoFit/>
          </a:bodyPr>
          <a:lstStyle/>
          <a:p>
            <a:pPr>
              <a:defRPr sz="950" b="1">
                <a:solidFill>
                  <a:srgbClr val="0284C7"/>
                </a:solidFill>
              </a:defRPr>
            </a:pPr>
            <a:r>
              <a:t>FIGURE 2 DEEP DIVE</a:t>
            </a:r>
          </a:p>
        </p:txBody>
      </p:sp>
      <p:sp>
        <p:nvSpPr>
          <p:cNvPr id="3" name="TextBox 2"/>
          <p:cNvSpPr txBox="1"/>
          <p:nvPr/>
        </p:nvSpPr>
        <p:spPr>
          <a:xfrm>
            <a:off x="189653" y="411141"/>
            <a:ext cx="10728655" cy="502920"/>
          </a:xfrm>
          <a:prstGeom prst="rect">
            <a:avLst/>
          </a:prstGeom>
          <a:noFill/>
        </p:spPr>
        <p:txBody>
          <a:bodyPr wrap="square">
            <a:spAutoFit/>
          </a:bodyPr>
          <a:lstStyle/>
          <a:p>
            <a:pPr>
              <a:defRPr sz="2000" b="1">
                <a:solidFill>
                  <a:srgbClr val="0F172A"/>
                </a:solidFill>
              </a:defRPr>
            </a:pPr>
            <a:r>
              <a:rPr dirty="0"/>
              <a:t>The Day 0–5 Bottleneck: Emergence Kinetics &amp; Biomass Deficits</a:t>
            </a:r>
          </a:p>
        </p:txBody>
      </p:sp>
      <p:sp>
        <p:nvSpPr>
          <p:cNvPr id="4" name="TextBox 3"/>
          <p:cNvSpPr txBox="1"/>
          <p:nvPr/>
        </p:nvSpPr>
        <p:spPr>
          <a:xfrm>
            <a:off x="189653" y="868341"/>
            <a:ext cx="10728655" cy="365760"/>
          </a:xfrm>
          <a:prstGeom prst="rect">
            <a:avLst/>
          </a:prstGeom>
          <a:noFill/>
        </p:spPr>
        <p:txBody>
          <a:bodyPr wrap="square">
            <a:spAutoFit/>
          </a:bodyPr>
          <a:lstStyle/>
          <a:p>
            <a:pPr>
              <a:defRPr sz="1100" i="1">
                <a:solidFill>
                  <a:srgbClr val="475569"/>
                </a:solidFill>
              </a:defRPr>
            </a:pPr>
            <a:r>
              <a:t>Why early germination delay compounds into substantial yield losses in closed-loop life support systems</a:t>
            </a:r>
          </a:p>
        </p:txBody>
      </p:sp>
      <p:pic>
        <p:nvPicPr>
          <p:cNvPr id="6" name="Picture 5" descr="Fig2b_germination_kinetics.png"/>
          <p:cNvPicPr>
            <a:picLocks noChangeAspect="1"/>
          </p:cNvPicPr>
          <p:nvPr/>
        </p:nvPicPr>
        <p:blipFill>
          <a:blip r:embed="rId3"/>
          <a:stretch>
            <a:fillRect/>
          </a:stretch>
        </p:blipFill>
        <p:spPr>
          <a:xfrm>
            <a:off x="6096000" y="1360762"/>
            <a:ext cx="5474473" cy="2624667"/>
          </a:xfrm>
          <a:prstGeom prst="rect">
            <a:avLst/>
          </a:prstGeom>
        </p:spPr>
      </p:pic>
      <p:pic>
        <p:nvPicPr>
          <p:cNvPr id="8" name="Picture 7" descr="Fig2c_biomass_yield.png"/>
          <p:cNvPicPr>
            <a:picLocks noChangeAspect="1"/>
          </p:cNvPicPr>
          <p:nvPr/>
        </p:nvPicPr>
        <p:blipFill>
          <a:blip r:embed="rId4"/>
          <a:stretch>
            <a:fillRect/>
          </a:stretch>
        </p:blipFill>
        <p:spPr>
          <a:xfrm>
            <a:off x="6096001" y="4030132"/>
            <a:ext cx="5474473" cy="2709335"/>
          </a:xfrm>
          <a:prstGeom prst="rect">
            <a:avLst/>
          </a:prstGeom>
        </p:spPr>
      </p:pic>
      <p:sp>
        <p:nvSpPr>
          <p:cNvPr id="10" name="TextBox 9"/>
          <p:cNvSpPr txBox="1"/>
          <p:nvPr/>
        </p:nvSpPr>
        <p:spPr>
          <a:xfrm>
            <a:off x="816187" y="1591056"/>
            <a:ext cx="5059375" cy="3954929"/>
          </a:xfrm>
          <a:prstGeom prst="rect">
            <a:avLst/>
          </a:prstGeom>
          <a:noFill/>
        </p:spPr>
        <p:txBody>
          <a:bodyPr wrap="square">
            <a:spAutoFit/>
          </a:bodyPr>
          <a:lstStyle/>
          <a:p>
            <a:pPr>
              <a:defRPr sz="1100" b="1">
                <a:solidFill>
                  <a:srgbClr val="0284C7"/>
                </a:solidFill>
              </a:defRPr>
            </a:pPr>
            <a:r>
              <a:rPr dirty="0"/>
              <a:t>AGRONOMIC &amp; CELLULAR CONSEQUENCES OF NNMF:</a:t>
            </a:r>
          </a:p>
          <a:p>
            <a:pPr>
              <a:defRPr sz="919">
                <a:solidFill>
                  <a:srgbClr val="0F172A"/>
                </a:solidFill>
              </a:defRPr>
            </a:pPr>
            <a:r>
              <a:rPr sz="1200" dirty="0"/>
              <a:t>1. Emergence Velocity Lag (Δt50 = 12–36 hours):</a:t>
            </a:r>
            <a:br>
              <a:rPr sz="1200" dirty="0"/>
            </a:br>
            <a:r>
              <a:rPr sz="1200" dirty="0"/>
              <a:t>   • Delayed water uptake in Phase I and slowed endosperm reserve mobilization.</a:t>
            </a:r>
            <a:br>
              <a:rPr sz="1200" dirty="0"/>
            </a:br>
            <a:r>
              <a:rPr sz="1200" dirty="0"/>
              <a:t>   • Testa rupture is postponed, shifting the entire autotrophic transition window.</a:t>
            </a:r>
            <a:br>
              <a:rPr sz="1200" dirty="0"/>
            </a:br>
            <a:br>
              <a:rPr sz="1200" dirty="0"/>
            </a:br>
            <a:r>
              <a:rPr sz="1200" dirty="0"/>
              <a:t>2. Cellular Division &amp; Auxin Transport Suppression:</a:t>
            </a:r>
            <a:br>
              <a:rPr sz="1200" dirty="0"/>
            </a:br>
            <a:r>
              <a:rPr sz="1200" dirty="0"/>
              <a:t>   • Dampened mitotic index in the root apical meristem (RAM).</a:t>
            </a:r>
            <a:br>
              <a:rPr sz="1200" dirty="0"/>
            </a:br>
            <a:r>
              <a:rPr sz="1200" dirty="0"/>
              <a:t>   • Disrupted polar localization of PIN2 auxin efflux carriers causes stunted, disoriented primary roots.</a:t>
            </a:r>
            <a:br>
              <a:rPr sz="1200" dirty="0"/>
            </a:br>
            <a:br>
              <a:rPr sz="1200" dirty="0"/>
            </a:br>
            <a:r>
              <a:rPr sz="1200" dirty="0"/>
              <a:t>3. Crop Biomass &amp; Canopy Interception Loss:</a:t>
            </a:r>
            <a:br>
              <a:rPr sz="1200" dirty="0"/>
            </a:br>
            <a:r>
              <a:rPr sz="1200" dirty="0"/>
              <a:t>   • Radicle length: -33.0% on Day 3</a:t>
            </a:r>
            <a:br>
              <a:rPr sz="1200" dirty="0"/>
            </a:br>
            <a:r>
              <a:rPr sz="1200" dirty="0"/>
              <a:t>   • Hypocotyl height: -31.0% on Day 5</a:t>
            </a:r>
            <a:br>
              <a:rPr sz="1200" dirty="0"/>
            </a:br>
            <a:r>
              <a:rPr sz="1200" dirty="0"/>
              <a:t>   • Total fresh biomass: -29.1% deficit on Day 5</a:t>
            </a:r>
            <a:br>
              <a:rPr sz="1200" dirty="0"/>
            </a:br>
            <a:br>
              <a:rPr sz="1200" dirty="0"/>
            </a:br>
            <a:r>
              <a:rPr sz="1200" dirty="0"/>
              <a:t>4. Operational BLSS Impact:</a:t>
            </a:r>
            <a:br>
              <a:rPr sz="1200" dirty="0"/>
            </a:br>
            <a:r>
              <a:rPr sz="1200" dirty="0"/>
              <a:t>   • Uneven seedling emergence creates patchy canopy architecture.</a:t>
            </a:r>
            <a:br>
              <a:rPr sz="1200" dirty="0"/>
            </a:br>
            <a:r>
              <a:rPr sz="1200" dirty="0"/>
              <a:t>   • Sub-optimal light interception dampens net photosynthetic CO2 scrubbing and fresh food yields, threatening tight mission dietary schedules.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10728655" cy="320040"/>
          </a:xfrm>
          <a:prstGeom prst="rect">
            <a:avLst/>
          </a:prstGeom>
          <a:noFill/>
        </p:spPr>
        <p:txBody>
          <a:bodyPr wrap="square">
            <a:spAutoFit/>
          </a:bodyPr>
          <a:lstStyle/>
          <a:p>
            <a:pPr>
              <a:defRPr sz="950" b="1">
                <a:solidFill>
                  <a:srgbClr val="0284C7"/>
                </a:solidFill>
              </a:defRPr>
            </a:pPr>
            <a:r>
              <a:t>FIGURE 3 MONTAGE | EDITABLE LAYOUT</a:t>
            </a:r>
          </a:p>
        </p:txBody>
      </p:sp>
      <p:sp>
        <p:nvSpPr>
          <p:cNvPr id="3" name="TextBox 2"/>
          <p:cNvSpPr txBox="1"/>
          <p:nvPr/>
        </p:nvSpPr>
        <p:spPr>
          <a:xfrm>
            <a:off x="0" y="384048"/>
            <a:ext cx="10728655" cy="502920"/>
          </a:xfrm>
          <a:prstGeom prst="rect">
            <a:avLst/>
          </a:prstGeom>
          <a:noFill/>
        </p:spPr>
        <p:txBody>
          <a:bodyPr wrap="square">
            <a:spAutoFit/>
          </a:bodyPr>
          <a:lstStyle/>
          <a:p>
            <a:pPr>
              <a:defRPr sz="2000" b="1">
                <a:solidFill>
                  <a:srgbClr val="0F172A"/>
                </a:solidFill>
              </a:defRPr>
            </a:pPr>
            <a:r>
              <a:t>Quantum Molecular Biology of the 0–5 Day Window</a:t>
            </a:r>
          </a:p>
        </p:txBody>
      </p:sp>
      <p:sp>
        <p:nvSpPr>
          <p:cNvPr id="4" name="TextBox 3"/>
          <p:cNvSpPr txBox="1"/>
          <p:nvPr/>
        </p:nvSpPr>
        <p:spPr>
          <a:xfrm>
            <a:off x="0" y="841248"/>
            <a:ext cx="10728655" cy="365760"/>
          </a:xfrm>
          <a:prstGeom prst="rect">
            <a:avLst/>
          </a:prstGeom>
          <a:noFill/>
        </p:spPr>
        <p:txBody>
          <a:bodyPr wrap="square">
            <a:spAutoFit/>
          </a:bodyPr>
          <a:lstStyle/>
          <a:p>
            <a:pPr>
              <a:defRPr sz="1100" i="1">
                <a:solidFill>
                  <a:srgbClr val="475569"/>
                </a:solidFill>
              </a:defRPr>
            </a:pPr>
            <a:r>
              <a:t>Peroxisomal reserve mobilization (QBM-06), evidentiary tiers (T1–T4), and organellar electron transport hubs</a:t>
            </a:r>
          </a:p>
        </p:txBody>
      </p:sp>
      <p:pic>
        <p:nvPicPr>
          <p:cNvPr id="6" name="Picture 5" descr="Fig3a_qbm06_pathway.png"/>
          <p:cNvPicPr>
            <a:picLocks noChangeAspect="1"/>
          </p:cNvPicPr>
          <p:nvPr/>
        </p:nvPicPr>
        <p:blipFill>
          <a:blip r:embed="rId3"/>
          <a:stretch>
            <a:fillRect/>
          </a:stretch>
        </p:blipFill>
        <p:spPr>
          <a:xfrm>
            <a:off x="271657" y="1667931"/>
            <a:ext cx="11948415" cy="2628053"/>
          </a:xfrm>
          <a:prstGeom prst="rect">
            <a:avLst/>
          </a:prstGeom>
        </p:spPr>
      </p:pic>
      <p:sp>
        <p:nvSpPr>
          <p:cNvPr id="7" name="TextBox 6"/>
          <p:cNvSpPr txBox="1"/>
          <p:nvPr/>
        </p:nvSpPr>
        <p:spPr>
          <a:xfrm>
            <a:off x="868680" y="1645920"/>
            <a:ext cx="6992171" cy="276999"/>
          </a:xfrm>
          <a:prstGeom prst="rect">
            <a:avLst/>
          </a:prstGeom>
          <a:noFill/>
        </p:spPr>
        <p:txBody>
          <a:bodyPr wrap="none">
            <a:spAutoFit/>
          </a:bodyPr>
          <a:lstStyle/>
          <a:p>
            <a:pPr>
              <a:defRPr sz="900" b="1">
                <a:solidFill>
                  <a:srgbClr val="0284C7"/>
                </a:solidFill>
              </a:defRPr>
            </a:pPr>
            <a:r>
              <a:rPr sz="1200" dirty="0"/>
              <a:t>(a) QBM-06 Pathway: Reserve Mobilization, Peroxisomal β-Oxidation &amp; Mitochondrial Respiration (0–72 h)</a:t>
            </a:r>
          </a:p>
        </p:txBody>
      </p:sp>
      <p:pic>
        <p:nvPicPr>
          <p:cNvPr id="9" name="Picture 8" descr="Fig3b_evidentiary_tiers.png"/>
          <p:cNvPicPr>
            <a:picLocks noChangeAspect="1"/>
          </p:cNvPicPr>
          <p:nvPr/>
        </p:nvPicPr>
        <p:blipFill>
          <a:blip r:embed="rId4"/>
          <a:stretch>
            <a:fillRect/>
          </a:stretch>
        </p:blipFill>
        <p:spPr>
          <a:xfrm>
            <a:off x="530822" y="4138507"/>
            <a:ext cx="5698108" cy="2628053"/>
          </a:xfrm>
          <a:prstGeom prst="rect">
            <a:avLst/>
          </a:prstGeom>
        </p:spPr>
      </p:pic>
      <p:sp>
        <p:nvSpPr>
          <p:cNvPr id="10" name="TextBox 9"/>
          <p:cNvSpPr txBox="1"/>
          <p:nvPr/>
        </p:nvSpPr>
        <p:spPr>
          <a:xfrm>
            <a:off x="868680" y="4114800"/>
            <a:ext cx="4173194" cy="276999"/>
          </a:xfrm>
          <a:prstGeom prst="rect">
            <a:avLst/>
          </a:prstGeom>
          <a:noFill/>
        </p:spPr>
        <p:txBody>
          <a:bodyPr wrap="none">
            <a:spAutoFit/>
          </a:bodyPr>
          <a:lstStyle/>
          <a:p>
            <a:pPr>
              <a:defRPr sz="900" b="1">
                <a:solidFill>
                  <a:srgbClr val="0284C7"/>
                </a:solidFill>
              </a:defRPr>
            </a:pPr>
            <a:r>
              <a:rPr sz="1200"/>
              <a:t>(b) Evidentiary Tier Hierarchy (T1 Demonstrated to T4 Context)</a:t>
            </a:r>
          </a:p>
        </p:txBody>
      </p:sp>
      <p:pic>
        <p:nvPicPr>
          <p:cNvPr id="12" name="Picture 11" descr="Fig3c_organellar_etc.png"/>
          <p:cNvPicPr>
            <a:picLocks noChangeAspect="1"/>
          </p:cNvPicPr>
          <p:nvPr/>
        </p:nvPicPr>
        <p:blipFill>
          <a:blip r:embed="rId5"/>
          <a:stretch>
            <a:fillRect/>
          </a:stretch>
        </p:blipFill>
        <p:spPr>
          <a:xfrm>
            <a:off x="6279336" y="4229947"/>
            <a:ext cx="5698108" cy="2628053"/>
          </a:xfrm>
          <a:prstGeom prst="rect">
            <a:avLst/>
          </a:prstGeom>
        </p:spPr>
      </p:pic>
      <p:sp>
        <p:nvSpPr>
          <p:cNvPr id="13" name="TextBox 12"/>
          <p:cNvSpPr txBox="1"/>
          <p:nvPr/>
        </p:nvSpPr>
        <p:spPr>
          <a:xfrm>
            <a:off x="6385255" y="4114800"/>
            <a:ext cx="5235216" cy="276999"/>
          </a:xfrm>
          <a:prstGeom prst="rect">
            <a:avLst/>
          </a:prstGeom>
          <a:noFill/>
        </p:spPr>
        <p:txBody>
          <a:bodyPr wrap="none">
            <a:spAutoFit/>
          </a:bodyPr>
          <a:lstStyle/>
          <a:p>
            <a:pPr>
              <a:defRPr sz="900" b="1">
                <a:solidFill>
                  <a:srgbClr val="0284C7"/>
                </a:solidFill>
              </a:defRPr>
            </a:pPr>
            <a:r>
              <a:rPr sz="1200"/>
              <a:t>(c) Organellar Electron Transport Hubs (Chloroplast PETC &amp; Mitochondrial AOX)</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89653" y="125604"/>
            <a:ext cx="10728655" cy="320040"/>
          </a:xfrm>
          <a:prstGeom prst="rect">
            <a:avLst/>
          </a:prstGeom>
          <a:noFill/>
        </p:spPr>
        <p:txBody>
          <a:bodyPr wrap="square">
            <a:spAutoFit/>
          </a:bodyPr>
          <a:lstStyle/>
          <a:p>
            <a:pPr>
              <a:defRPr sz="950" b="1">
                <a:solidFill>
                  <a:srgbClr val="0284C7"/>
                </a:solidFill>
              </a:defRPr>
            </a:pPr>
            <a:r>
              <a:t>FIGURE 3 DEEP DIVE</a:t>
            </a:r>
          </a:p>
        </p:txBody>
      </p:sp>
      <p:sp>
        <p:nvSpPr>
          <p:cNvPr id="3" name="TextBox 2"/>
          <p:cNvSpPr txBox="1"/>
          <p:nvPr/>
        </p:nvSpPr>
        <p:spPr>
          <a:xfrm>
            <a:off x="189653" y="418212"/>
            <a:ext cx="10728655" cy="502920"/>
          </a:xfrm>
          <a:prstGeom prst="rect">
            <a:avLst/>
          </a:prstGeom>
          <a:noFill/>
        </p:spPr>
        <p:txBody>
          <a:bodyPr wrap="square">
            <a:spAutoFit/>
          </a:bodyPr>
          <a:lstStyle/>
          <a:p>
            <a:pPr>
              <a:defRPr sz="2000" b="1">
                <a:solidFill>
                  <a:srgbClr val="0F172A"/>
                </a:solidFill>
              </a:defRPr>
            </a:pPr>
            <a:r>
              <a:t>Cryptochrome Spin Dynamics &amp; Evidentiary Rigor</a:t>
            </a:r>
          </a:p>
        </p:txBody>
      </p:sp>
      <p:pic>
        <p:nvPicPr>
          <p:cNvPr id="6" name="Picture 5" descr="Fig3b_evidentiary_tiers.png"/>
          <p:cNvPicPr>
            <a:picLocks noChangeAspect="1"/>
          </p:cNvPicPr>
          <p:nvPr/>
        </p:nvPicPr>
        <p:blipFill>
          <a:blip r:embed="rId3"/>
          <a:srcRect t="8870"/>
          <a:stretch>
            <a:fillRect/>
          </a:stretch>
        </p:blipFill>
        <p:spPr>
          <a:xfrm>
            <a:off x="7009012" y="125603"/>
            <a:ext cx="5059375" cy="3503753"/>
          </a:xfrm>
          <a:prstGeom prst="rect">
            <a:avLst/>
          </a:prstGeom>
        </p:spPr>
      </p:pic>
      <p:sp>
        <p:nvSpPr>
          <p:cNvPr id="4" name="TextBox 3"/>
          <p:cNvSpPr txBox="1"/>
          <p:nvPr/>
        </p:nvSpPr>
        <p:spPr>
          <a:xfrm>
            <a:off x="189653" y="875412"/>
            <a:ext cx="10728655" cy="365760"/>
          </a:xfrm>
          <a:prstGeom prst="rect">
            <a:avLst/>
          </a:prstGeom>
          <a:noFill/>
        </p:spPr>
        <p:txBody>
          <a:bodyPr wrap="square">
            <a:spAutoFit/>
          </a:bodyPr>
          <a:lstStyle/>
          <a:p>
            <a:pPr>
              <a:defRPr sz="1100" i="1">
                <a:solidFill>
                  <a:srgbClr val="475569"/>
                </a:solidFill>
              </a:defRPr>
            </a:pPr>
            <a:r>
              <a:rPr dirty="0"/>
              <a:t>Separating rigorously demonstrated radical pair quantum biology (T1/T2) from speculative claims (T3/T4)</a:t>
            </a:r>
          </a:p>
        </p:txBody>
      </p:sp>
      <p:pic>
        <p:nvPicPr>
          <p:cNvPr id="8" name="Picture 7" descr="Fig3c_organellar_etc.png"/>
          <p:cNvPicPr>
            <a:picLocks noChangeAspect="1"/>
          </p:cNvPicPr>
          <p:nvPr/>
        </p:nvPicPr>
        <p:blipFill>
          <a:blip r:embed="rId4"/>
          <a:stretch>
            <a:fillRect/>
          </a:stretch>
        </p:blipFill>
        <p:spPr>
          <a:xfrm>
            <a:off x="6873545" y="3629357"/>
            <a:ext cx="5059375" cy="3365289"/>
          </a:xfrm>
          <a:prstGeom prst="rect">
            <a:avLst/>
          </a:prstGeom>
        </p:spPr>
      </p:pic>
      <p:sp>
        <p:nvSpPr>
          <p:cNvPr id="10" name="TextBox 9"/>
          <p:cNvSpPr txBox="1"/>
          <p:nvPr/>
        </p:nvSpPr>
        <p:spPr>
          <a:xfrm>
            <a:off x="494605" y="1559560"/>
            <a:ext cx="5059375" cy="4139595"/>
          </a:xfrm>
          <a:prstGeom prst="rect">
            <a:avLst/>
          </a:prstGeom>
          <a:noFill/>
        </p:spPr>
        <p:txBody>
          <a:bodyPr wrap="square">
            <a:spAutoFit/>
          </a:bodyPr>
          <a:lstStyle/>
          <a:p>
            <a:pPr>
              <a:defRPr sz="1100" b="1">
                <a:solidFill>
                  <a:srgbClr val="0284C7"/>
                </a:solidFill>
              </a:defRPr>
            </a:pPr>
            <a:r>
              <a:rPr dirty="0"/>
              <a:t>THE RADICAL PAIR SPIN-CHEMICAL MECHANISM:</a:t>
            </a:r>
          </a:p>
          <a:p>
            <a:pPr>
              <a:defRPr sz="900">
                <a:solidFill>
                  <a:srgbClr val="0F172A"/>
                </a:solidFill>
              </a:defRPr>
            </a:pPr>
            <a:r>
              <a:rPr sz="1200" dirty="0"/>
              <a:t>1. Radical Pair Formation:</a:t>
            </a:r>
            <a:br>
              <a:rPr sz="1200" dirty="0"/>
            </a:br>
            <a:r>
              <a:rPr sz="1200" dirty="0"/>
              <a:t>   • Photon absorption (450 nm blue light) promotes electron transfer:</a:t>
            </a:r>
            <a:br>
              <a:rPr sz="1200" dirty="0"/>
            </a:br>
            <a:r>
              <a:rPr sz="1200" dirty="0"/>
              <a:t>     FAD + </a:t>
            </a:r>
            <a:r>
              <a:rPr sz="1200" dirty="0" err="1"/>
              <a:t>TrpH</a:t>
            </a:r>
            <a:r>
              <a:rPr sz="1200" dirty="0"/>
              <a:t> → [FAD•- ... </a:t>
            </a:r>
            <a:r>
              <a:rPr sz="1200" dirty="0" err="1"/>
              <a:t>TrpH</a:t>
            </a:r>
            <a:r>
              <a:rPr sz="1200" dirty="0"/>
              <a:t>•+]</a:t>
            </a:r>
            <a:br>
              <a:rPr sz="1200" dirty="0"/>
            </a:br>
            <a:r>
              <a:rPr sz="1200" dirty="0"/>
              <a:t>   • Generates a spin-correlated singlet-triplet pair.</a:t>
            </a:r>
            <a:br>
              <a:rPr sz="1200" dirty="0"/>
            </a:br>
            <a:br>
              <a:rPr sz="1200" dirty="0"/>
            </a:br>
            <a:r>
              <a:rPr sz="1200" dirty="0"/>
              <a:t>2. Zeeman &amp; Hyperfine Modulation:</a:t>
            </a:r>
            <a:br>
              <a:rPr sz="1200" dirty="0"/>
            </a:br>
            <a:r>
              <a:rPr sz="1200" dirty="0"/>
              <a:t>   • In Earth's GMF (45 µT), external Zeeman splitting alters singlet-to-triplet interconversion rates.</a:t>
            </a:r>
            <a:br>
              <a:rPr sz="1200" dirty="0"/>
            </a:br>
            <a:r>
              <a:rPr sz="1200" dirty="0"/>
              <a:t>   • In Near-Null Fields (&lt;0.8 </a:t>
            </a:r>
            <a:r>
              <a:rPr sz="1200" dirty="0" err="1"/>
              <a:t>nT</a:t>
            </a:r>
            <a:r>
              <a:rPr sz="1200" dirty="0"/>
              <a:t>), Zeeman mixing collapses, altering radical pair lifetimes and yields.</a:t>
            </a:r>
            <a:br>
              <a:rPr sz="1200" dirty="0"/>
            </a:br>
            <a:br>
              <a:rPr sz="1200" dirty="0"/>
            </a:br>
            <a:r>
              <a:rPr sz="1200" dirty="0"/>
              <a:t>3. Downstream Signaling Attenuation:</a:t>
            </a:r>
            <a:br>
              <a:rPr sz="1200" dirty="0"/>
            </a:br>
            <a:r>
              <a:rPr sz="1200" dirty="0"/>
              <a:t>   • Reduced cryptochrome active signaling decreases COP1/SPA1 dissociation.</a:t>
            </a:r>
            <a:br>
              <a:rPr sz="1200" dirty="0"/>
            </a:br>
            <a:r>
              <a:rPr sz="1200" dirty="0"/>
              <a:t>   • Less HY5 transcription factor is stabilized in the nucleus.</a:t>
            </a:r>
            <a:br>
              <a:rPr sz="1200" dirty="0"/>
            </a:br>
            <a:r>
              <a:rPr sz="1200" dirty="0"/>
              <a:t>   • Direct repression of HEMA1, POR, CHS, and CHI (chlorophyll and anthocyanin chlorosis).</a:t>
            </a:r>
            <a:br>
              <a:rPr sz="1200" dirty="0"/>
            </a:br>
            <a:br>
              <a:rPr sz="1200" dirty="0"/>
            </a:br>
            <a:r>
              <a:rPr sz="1200" dirty="0"/>
              <a:t>4. Critical Evidentiary Tiers:</a:t>
            </a:r>
            <a:br>
              <a:rPr sz="1200" dirty="0"/>
            </a:br>
            <a:r>
              <a:rPr sz="1200" dirty="0"/>
              <a:t>   • T1 (Solid): Cryptochrome FAD•- in vitro magnetic sensitivity.</a:t>
            </a:r>
            <a:br>
              <a:rPr sz="1200" dirty="0"/>
            </a:br>
            <a:r>
              <a:rPr sz="1200" dirty="0"/>
              <a:t>   • T2 (Plausible): Peroxisomal flavin oxidase radical pairs.</a:t>
            </a:r>
            <a:br>
              <a:rPr sz="1200" dirty="0"/>
            </a:br>
            <a:r>
              <a:rPr sz="1200" dirty="0"/>
              <a:t>   • T3/T4 (Speculative): Mitochondrial DNA quantum coherence.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Fig4a_multistressor_space.png"/>
          <p:cNvPicPr>
            <a:picLocks noChangeAspect="1"/>
          </p:cNvPicPr>
          <p:nvPr/>
        </p:nvPicPr>
        <p:blipFill>
          <a:blip r:embed="rId3"/>
          <a:stretch>
            <a:fillRect/>
          </a:stretch>
        </p:blipFill>
        <p:spPr>
          <a:xfrm>
            <a:off x="731520" y="1161288"/>
            <a:ext cx="5534347" cy="2857397"/>
          </a:xfrm>
          <a:prstGeom prst="rect">
            <a:avLst/>
          </a:prstGeom>
        </p:spPr>
      </p:pic>
      <p:sp>
        <p:nvSpPr>
          <p:cNvPr id="7" name="TextBox 6"/>
          <p:cNvSpPr txBox="1"/>
          <p:nvPr/>
        </p:nvSpPr>
        <p:spPr>
          <a:xfrm>
            <a:off x="868680" y="1445656"/>
            <a:ext cx="5347169" cy="307777"/>
          </a:xfrm>
          <a:prstGeom prst="rect">
            <a:avLst/>
          </a:prstGeom>
          <a:noFill/>
        </p:spPr>
        <p:txBody>
          <a:bodyPr wrap="none">
            <a:spAutoFit/>
          </a:bodyPr>
          <a:lstStyle/>
          <a:p>
            <a:pPr>
              <a:defRPr sz="900" b="1">
                <a:solidFill>
                  <a:srgbClr val="0284C7"/>
                </a:solidFill>
              </a:defRPr>
            </a:pPr>
            <a:r>
              <a:rPr sz="1400"/>
              <a:t>(a) Multi-Stressor Space: Exploration Atmosphere, NNMF &amp; Radiation</a:t>
            </a:r>
          </a:p>
        </p:txBody>
      </p:sp>
      <p:pic>
        <p:nvPicPr>
          <p:cNvPr id="9" name="Picture 8" descr="Fig4b_bioenergetic_engine.png"/>
          <p:cNvPicPr>
            <a:picLocks noChangeAspect="1"/>
          </p:cNvPicPr>
          <p:nvPr/>
        </p:nvPicPr>
        <p:blipFill>
          <a:blip r:embed="rId4"/>
          <a:stretch>
            <a:fillRect/>
          </a:stretch>
        </p:blipFill>
        <p:spPr>
          <a:xfrm>
            <a:off x="6248095" y="1481328"/>
            <a:ext cx="5534347" cy="3310805"/>
          </a:xfrm>
          <a:prstGeom prst="rect">
            <a:avLst/>
          </a:prstGeom>
        </p:spPr>
      </p:pic>
      <p:sp>
        <p:nvSpPr>
          <p:cNvPr id="10" name="TextBox 9"/>
          <p:cNvSpPr txBox="1"/>
          <p:nvPr/>
        </p:nvSpPr>
        <p:spPr>
          <a:xfrm>
            <a:off x="6385255" y="1445656"/>
            <a:ext cx="4960973" cy="307777"/>
          </a:xfrm>
          <a:prstGeom prst="rect">
            <a:avLst/>
          </a:prstGeom>
          <a:noFill/>
        </p:spPr>
        <p:txBody>
          <a:bodyPr wrap="none">
            <a:spAutoFit/>
          </a:bodyPr>
          <a:lstStyle/>
          <a:p>
            <a:pPr>
              <a:defRPr sz="900" b="1">
                <a:solidFill>
                  <a:srgbClr val="0284C7"/>
                </a:solidFill>
              </a:defRPr>
            </a:pPr>
            <a:r>
              <a:rPr sz="1400"/>
              <a:t>(b) The Mitochondrial &amp; Peroxisomal CO2 &lt;-&gt; O2 &lt;-&gt; ROS Engine</a:t>
            </a:r>
          </a:p>
        </p:txBody>
      </p:sp>
      <p:pic>
        <p:nvPicPr>
          <p:cNvPr id="12" name="Picture 11" descr="Fig4c_multiomics_overlap.png"/>
          <p:cNvPicPr>
            <a:picLocks noChangeAspect="1"/>
          </p:cNvPicPr>
          <p:nvPr/>
        </p:nvPicPr>
        <p:blipFill>
          <a:blip r:embed="rId5"/>
          <a:stretch>
            <a:fillRect/>
          </a:stretch>
        </p:blipFill>
        <p:spPr>
          <a:xfrm>
            <a:off x="731520" y="4179712"/>
            <a:ext cx="5534347" cy="2564142"/>
          </a:xfrm>
          <a:prstGeom prst="rect">
            <a:avLst/>
          </a:prstGeom>
        </p:spPr>
      </p:pic>
      <p:sp>
        <p:nvSpPr>
          <p:cNvPr id="13" name="TextBox 12"/>
          <p:cNvSpPr txBox="1"/>
          <p:nvPr/>
        </p:nvSpPr>
        <p:spPr>
          <a:xfrm>
            <a:off x="868680" y="3914536"/>
            <a:ext cx="5280548" cy="307777"/>
          </a:xfrm>
          <a:prstGeom prst="rect">
            <a:avLst/>
          </a:prstGeom>
          <a:noFill/>
        </p:spPr>
        <p:txBody>
          <a:bodyPr wrap="none">
            <a:spAutoFit/>
          </a:bodyPr>
          <a:lstStyle/>
          <a:p>
            <a:pPr>
              <a:defRPr sz="900" b="1">
                <a:solidFill>
                  <a:srgbClr val="0284C7"/>
                </a:solidFill>
              </a:defRPr>
            </a:pPr>
            <a:r>
              <a:rPr sz="1400"/>
              <a:t>(c) Multi-Omics Empirical Overlap: OSD-782 Radiation vs. NNMF Loci</a:t>
            </a:r>
          </a:p>
        </p:txBody>
      </p:sp>
      <p:pic>
        <p:nvPicPr>
          <p:cNvPr id="15" name="Picture 14" descr="Fig4d_crosskingdom_astronaut.png"/>
          <p:cNvPicPr>
            <a:picLocks noChangeAspect="1"/>
          </p:cNvPicPr>
          <p:nvPr/>
        </p:nvPicPr>
        <p:blipFill>
          <a:blip r:embed="rId6"/>
          <a:stretch>
            <a:fillRect/>
          </a:stretch>
        </p:blipFill>
        <p:spPr>
          <a:xfrm>
            <a:off x="6248095" y="4018685"/>
            <a:ext cx="5534347" cy="2725169"/>
          </a:xfrm>
          <a:prstGeom prst="rect">
            <a:avLst/>
          </a:prstGeom>
        </p:spPr>
      </p:pic>
      <p:sp>
        <p:nvSpPr>
          <p:cNvPr id="16" name="TextBox 15"/>
          <p:cNvSpPr txBox="1"/>
          <p:nvPr/>
        </p:nvSpPr>
        <p:spPr>
          <a:xfrm>
            <a:off x="6385255" y="3914536"/>
            <a:ext cx="5465920" cy="307777"/>
          </a:xfrm>
          <a:prstGeom prst="rect">
            <a:avLst/>
          </a:prstGeom>
          <a:noFill/>
        </p:spPr>
        <p:txBody>
          <a:bodyPr wrap="none">
            <a:spAutoFit/>
          </a:bodyPr>
          <a:lstStyle/>
          <a:p>
            <a:pPr>
              <a:defRPr sz="900" b="1">
                <a:solidFill>
                  <a:srgbClr val="0284C7"/>
                </a:solidFill>
              </a:defRPr>
            </a:pPr>
            <a:r>
              <a:rPr sz="1400"/>
              <a:t>(d) Cross-Kingdom Convergence: Plant BLSS &amp; Human Astronaut Health</a:t>
            </a:r>
          </a:p>
        </p:txBody>
      </p:sp>
      <p:sp>
        <p:nvSpPr>
          <p:cNvPr id="2" name="TextBox 1"/>
          <p:cNvSpPr txBox="1"/>
          <p:nvPr/>
        </p:nvSpPr>
        <p:spPr>
          <a:xfrm>
            <a:off x="88054" y="70363"/>
            <a:ext cx="10728655" cy="320040"/>
          </a:xfrm>
          <a:prstGeom prst="rect">
            <a:avLst/>
          </a:prstGeom>
          <a:noFill/>
        </p:spPr>
        <p:txBody>
          <a:bodyPr wrap="square">
            <a:spAutoFit/>
          </a:bodyPr>
          <a:lstStyle/>
          <a:p>
            <a:pPr>
              <a:defRPr sz="950" b="1">
                <a:solidFill>
                  <a:srgbClr val="0284C7"/>
                </a:solidFill>
              </a:defRPr>
            </a:pPr>
            <a:r>
              <a:t>FIGURE 4 MONTAGE | EDITABLE LAYOUT</a:t>
            </a:r>
          </a:p>
        </p:txBody>
      </p:sp>
      <p:sp>
        <p:nvSpPr>
          <p:cNvPr id="3" name="TextBox 2"/>
          <p:cNvSpPr txBox="1"/>
          <p:nvPr/>
        </p:nvSpPr>
        <p:spPr>
          <a:xfrm>
            <a:off x="88054" y="362971"/>
            <a:ext cx="10728655" cy="502920"/>
          </a:xfrm>
          <a:prstGeom prst="rect">
            <a:avLst/>
          </a:prstGeom>
          <a:noFill/>
        </p:spPr>
        <p:txBody>
          <a:bodyPr wrap="square">
            <a:spAutoFit/>
          </a:bodyPr>
          <a:lstStyle/>
          <a:p>
            <a:pPr>
              <a:defRPr sz="2000" b="1">
                <a:solidFill>
                  <a:srgbClr val="0F172A"/>
                </a:solidFill>
              </a:defRPr>
            </a:pPr>
            <a:r>
              <a:t>Multi-Stressor Convergence: The CO2 &lt;-&gt; O2 &lt;-&gt; ROS Nexus</a:t>
            </a:r>
          </a:p>
        </p:txBody>
      </p:sp>
      <p:sp>
        <p:nvSpPr>
          <p:cNvPr id="4" name="TextBox 3"/>
          <p:cNvSpPr txBox="1"/>
          <p:nvPr/>
        </p:nvSpPr>
        <p:spPr>
          <a:xfrm>
            <a:off x="88054" y="820171"/>
            <a:ext cx="10728655" cy="365760"/>
          </a:xfrm>
          <a:prstGeom prst="rect">
            <a:avLst/>
          </a:prstGeom>
          <a:noFill/>
        </p:spPr>
        <p:txBody>
          <a:bodyPr wrap="square">
            <a:spAutoFit/>
          </a:bodyPr>
          <a:lstStyle/>
          <a:p>
            <a:pPr>
              <a:defRPr sz="1100" i="1">
                <a:solidFill>
                  <a:srgbClr val="475569"/>
                </a:solidFill>
              </a:defRPr>
            </a:pPr>
            <a:r>
              <a:t>Exploration atmospheres, hypomagnetic fields, and ionizing radiation converge on mitochondrial Alternative Oxidase (AOX1D)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4987" y="103293"/>
            <a:ext cx="10728655" cy="320040"/>
          </a:xfrm>
          <a:prstGeom prst="rect">
            <a:avLst/>
          </a:prstGeom>
          <a:noFill/>
        </p:spPr>
        <p:txBody>
          <a:bodyPr wrap="square">
            <a:spAutoFit/>
          </a:bodyPr>
          <a:lstStyle/>
          <a:p>
            <a:pPr>
              <a:defRPr sz="950" b="1">
                <a:solidFill>
                  <a:srgbClr val="0284C7"/>
                </a:solidFill>
              </a:defRPr>
            </a:pPr>
            <a:r>
              <a:rPr dirty="0"/>
              <a:t>FIGURE 4 DEEP DIVE</a:t>
            </a:r>
          </a:p>
        </p:txBody>
      </p:sp>
      <p:sp>
        <p:nvSpPr>
          <p:cNvPr id="3" name="TextBox 2"/>
          <p:cNvSpPr txBox="1"/>
          <p:nvPr/>
        </p:nvSpPr>
        <p:spPr>
          <a:xfrm>
            <a:off x="104987" y="395901"/>
            <a:ext cx="10728655" cy="502920"/>
          </a:xfrm>
          <a:prstGeom prst="rect">
            <a:avLst/>
          </a:prstGeom>
          <a:noFill/>
        </p:spPr>
        <p:txBody>
          <a:bodyPr wrap="square">
            <a:spAutoFit/>
          </a:bodyPr>
          <a:lstStyle/>
          <a:p>
            <a:pPr>
              <a:defRPr sz="2000" b="1">
                <a:solidFill>
                  <a:srgbClr val="0F172A"/>
                </a:solidFill>
              </a:defRPr>
            </a:pPr>
            <a:r>
              <a:t>Mitochondrial Bioenergetics &amp; Human Astronaut Parallels</a:t>
            </a:r>
          </a:p>
        </p:txBody>
      </p:sp>
      <p:sp>
        <p:nvSpPr>
          <p:cNvPr id="4" name="TextBox 3"/>
          <p:cNvSpPr txBox="1"/>
          <p:nvPr/>
        </p:nvSpPr>
        <p:spPr>
          <a:xfrm>
            <a:off x="104987" y="853101"/>
            <a:ext cx="10728655" cy="365760"/>
          </a:xfrm>
          <a:prstGeom prst="rect">
            <a:avLst/>
          </a:prstGeom>
          <a:noFill/>
        </p:spPr>
        <p:txBody>
          <a:bodyPr wrap="square">
            <a:spAutoFit/>
          </a:bodyPr>
          <a:lstStyle/>
          <a:p>
            <a:pPr>
              <a:defRPr sz="1100" i="1">
                <a:solidFill>
                  <a:srgbClr val="475569"/>
                </a:solidFill>
              </a:defRPr>
            </a:pPr>
            <a:r>
              <a:t>Mitochondrial dysfunction is the universal biological signature linking space crops and astronaut crews</a:t>
            </a:r>
          </a:p>
        </p:txBody>
      </p:sp>
      <p:pic>
        <p:nvPicPr>
          <p:cNvPr id="6" name="Picture 5" descr="Fig4c_multiomics_overlap.png"/>
          <p:cNvPicPr>
            <a:picLocks noChangeAspect="1"/>
          </p:cNvPicPr>
          <p:nvPr/>
        </p:nvPicPr>
        <p:blipFill>
          <a:blip r:embed="rId3"/>
          <a:stretch>
            <a:fillRect/>
          </a:stretch>
        </p:blipFill>
        <p:spPr>
          <a:xfrm>
            <a:off x="6427893" y="926254"/>
            <a:ext cx="4937760" cy="2926079"/>
          </a:xfrm>
          <a:prstGeom prst="rect">
            <a:avLst/>
          </a:prstGeom>
        </p:spPr>
      </p:pic>
      <p:pic>
        <p:nvPicPr>
          <p:cNvPr id="8" name="Picture 7" descr="Fig4d_crosskingdom_astronaut.png"/>
          <p:cNvPicPr>
            <a:picLocks noChangeAspect="1"/>
          </p:cNvPicPr>
          <p:nvPr/>
        </p:nvPicPr>
        <p:blipFill>
          <a:blip r:embed="rId4"/>
          <a:stretch>
            <a:fillRect/>
          </a:stretch>
        </p:blipFill>
        <p:spPr>
          <a:xfrm>
            <a:off x="6487160" y="3536020"/>
            <a:ext cx="4937760" cy="2926079"/>
          </a:xfrm>
          <a:prstGeom prst="rect">
            <a:avLst/>
          </a:prstGeom>
        </p:spPr>
      </p:pic>
      <p:sp>
        <p:nvSpPr>
          <p:cNvPr id="10" name="TextBox 9"/>
          <p:cNvSpPr txBox="1"/>
          <p:nvPr/>
        </p:nvSpPr>
        <p:spPr>
          <a:xfrm>
            <a:off x="519854" y="1559397"/>
            <a:ext cx="5059375" cy="4585871"/>
          </a:xfrm>
          <a:prstGeom prst="rect">
            <a:avLst/>
          </a:prstGeom>
          <a:noFill/>
        </p:spPr>
        <p:txBody>
          <a:bodyPr wrap="square">
            <a:spAutoFit/>
          </a:bodyPr>
          <a:lstStyle/>
          <a:p>
            <a:pPr>
              <a:defRPr sz="1100" b="1">
                <a:solidFill>
                  <a:srgbClr val="0284C7"/>
                </a:solidFill>
              </a:defRPr>
            </a:pPr>
            <a:r>
              <a:rPr sz="1200" dirty="0"/>
              <a:t>THE SHARED BIOENERGETIC PHENOTYPE:</a:t>
            </a:r>
          </a:p>
          <a:p>
            <a:pPr>
              <a:defRPr sz="900">
                <a:solidFill>
                  <a:srgbClr val="0F172A"/>
                </a:solidFill>
              </a:defRPr>
            </a:pPr>
            <a:r>
              <a:rPr sz="1400" dirty="0"/>
              <a:t>1. The Alternative Oxidase (AOX) Safety Valve:</a:t>
            </a:r>
            <a:br>
              <a:rPr sz="1400" dirty="0"/>
            </a:br>
            <a:r>
              <a:rPr sz="1400" dirty="0"/>
              <a:t>   • In plants, Alternative Oxidase (AOX1D, AT1G32350) acts as an uncoupled terminal oxidase.</a:t>
            </a:r>
            <a:br>
              <a:rPr sz="1400" dirty="0"/>
            </a:br>
            <a:r>
              <a:rPr sz="1400" dirty="0"/>
              <a:t>   • Bypasses Complexes III and IV to oxidize ubiquinol directly to H2O without pumping protons.</a:t>
            </a:r>
            <a:br>
              <a:rPr sz="1400" dirty="0"/>
            </a:br>
            <a:r>
              <a:rPr sz="1400" dirty="0"/>
              <a:t>   • Prevents runaway superoxide (O2•-) formation at Complex I and III.</a:t>
            </a:r>
            <a:br>
              <a:rPr sz="1400" dirty="0"/>
            </a:br>
            <a:br>
              <a:rPr sz="1400" dirty="0"/>
            </a:br>
            <a:r>
              <a:rPr sz="1400" dirty="0"/>
              <a:t>2. Empirical Concordance (NASA OSDR OSD-782 vs. NNMF):</a:t>
            </a:r>
            <a:br>
              <a:rPr sz="1400" dirty="0"/>
            </a:br>
            <a:r>
              <a:rPr sz="1400" dirty="0"/>
              <a:t>   • AOX1D: +2.45 log2FC (Radiation) | +1.88 log2FC (NNMF)</a:t>
            </a:r>
            <a:br>
              <a:rPr sz="1400" dirty="0"/>
            </a:br>
            <a:r>
              <a:rPr sz="1400" dirty="0"/>
              <a:t>   • CAT3: +1.92 log2FC (Radiation) | +1.45 log2FC (NNMF)</a:t>
            </a:r>
            <a:br>
              <a:rPr sz="1400" dirty="0"/>
            </a:br>
            <a:r>
              <a:rPr sz="1400" dirty="0"/>
              <a:t>   • HEMA1: -1.85 log2FC (Radiation) | -2.10 log2FC (NNMF)</a:t>
            </a:r>
            <a:br>
              <a:rPr sz="1400" dirty="0"/>
            </a:br>
            <a:br>
              <a:rPr sz="1400" dirty="0"/>
            </a:br>
            <a:r>
              <a:rPr sz="1400" dirty="0"/>
              <a:t>3. Cross-Kingdom Spaceflight Nexus:</a:t>
            </a:r>
            <a:br>
              <a:rPr sz="1400" dirty="0"/>
            </a:br>
            <a:r>
              <a:rPr sz="1400" dirty="0"/>
              <a:t>   • </a:t>
            </a:r>
            <a:r>
              <a:rPr sz="1400" dirty="0" err="1"/>
              <a:t>Afshinnekoo</a:t>
            </a:r>
            <a:r>
              <a:rPr sz="1400" dirty="0"/>
              <a:t> et al. (Cell 2020) and the NASA Twins Study identified mitochondrial dysfunction as the single most conserved hallmark across astronaut tissues.</a:t>
            </a:r>
            <a:br>
              <a:rPr sz="1400" dirty="0"/>
            </a:br>
            <a:r>
              <a:rPr sz="1400" dirty="0"/>
              <a:t>   • High cell-free mitochondrial DNA (</a:t>
            </a:r>
            <a:r>
              <a:rPr sz="1400" dirty="0" err="1"/>
              <a:t>cf</a:t>
            </a:r>
            <a:r>
              <a:rPr sz="1400" dirty="0"/>
              <a:t>-mtDNA), elevated ROS, and respiratory chain decoupling occur in both human astronauts and lunar plants!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794" y="71757"/>
            <a:ext cx="10728655" cy="320040"/>
          </a:xfrm>
          <a:prstGeom prst="rect">
            <a:avLst/>
          </a:prstGeom>
          <a:noFill/>
        </p:spPr>
        <p:txBody>
          <a:bodyPr wrap="square">
            <a:spAutoFit/>
          </a:bodyPr>
          <a:lstStyle/>
          <a:p>
            <a:pPr>
              <a:defRPr sz="950" b="1">
                <a:solidFill>
                  <a:srgbClr val="0284C7"/>
                </a:solidFill>
              </a:defRPr>
            </a:pPr>
            <a:r>
              <a:rPr dirty="0"/>
              <a:t>FIGURE 5 MONTAGE | EDITABLE LAYOUT</a:t>
            </a:r>
          </a:p>
        </p:txBody>
      </p:sp>
      <p:sp>
        <p:nvSpPr>
          <p:cNvPr id="3" name="TextBox 2"/>
          <p:cNvSpPr txBox="1"/>
          <p:nvPr/>
        </p:nvSpPr>
        <p:spPr>
          <a:xfrm>
            <a:off x="64794" y="364365"/>
            <a:ext cx="10728655" cy="502920"/>
          </a:xfrm>
          <a:prstGeom prst="rect">
            <a:avLst/>
          </a:prstGeom>
          <a:noFill/>
        </p:spPr>
        <p:txBody>
          <a:bodyPr wrap="square">
            <a:spAutoFit/>
          </a:bodyPr>
          <a:lstStyle/>
          <a:p>
            <a:pPr>
              <a:defRPr sz="2000" b="1">
                <a:solidFill>
                  <a:srgbClr val="0F172A"/>
                </a:solidFill>
              </a:defRPr>
            </a:pPr>
            <a:r>
              <a:t>Flight Validation, Causal Rescue &amp; Artemis Risk Pipeline</a:t>
            </a:r>
          </a:p>
        </p:txBody>
      </p:sp>
      <p:sp>
        <p:nvSpPr>
          <p:cNvPr id="4" name="TextBox 3"/>
          <p:cNvSpPr txBox="1"/>
          <p:nvPr/>
        </p:nvSpPr>
        <p:spPr>
          <a:xfrm>
            <a:off x="64794" y="821565"/>
            <a:ext cx="10728655" cy="365760"/>
          </a:xfrm>
          <a:prstGeom prst="rect">
            <a:avLst/>
          </a:prstGeom>
          <a:noFill/>
        </p:spPr>
        <p:txBody>
          <a:bodyPr wrap="square">
            <a:spAutoFit/>
          </a:bodyPr>
          <a:lstStyle/>
          <a:p>
            <a:pPr>
              <a:defRPr sz="1100" i="1">
                <a:solidFill>
                  <a:srgbClr val="475569"/>
                </a:solidFill>
              </a:defRPr>
            </a:pPr>
            <a:r>
              <a:t>3-chamber ground controls, in-situ 3-axis fluxgate telemetry, active 45 µT rescue coils, and predeclared flight gates</a:t>
            </a:r>
          </a:p>
        </p:txBody>
      </p:sp>
      <p:pic>
        <p:nvPicPr>
          <p:cNvPr id="6" name="Picture 5" descr="Fig5a_ground_chambers.png"/>
          <p:cNvPicPr>
            <a:picLocks noChangeAspect="1"/>
          </p:cNvPicPr>
          <p:nvPr/>
        </p:nvPicPr>
        <p:blipFill>
          <a:blip r:embed="rId3"/>
          <a:stretch>
            <a:fillRect/>
          </a:stretch>
        </p:blipFill>
        <p:spPr>
          <a:xfrm>
            <a:off x="154052" y="1920239"/>
            <a:ext cx="5945852" cy="2653154"/>
          </a:xfrm>
          <a:prstGeom prst="rect">
            <a:avLst/>
          </a:prstGeom>
        </p:spPr>
      </p:pic>
      <p:sp>
        <p:nvSpPr>
          <p:cNvPr id="7" name="TextBox 6"/>
          <p:cNvSpPr txBox="1"/>
          <p:nvPr/>
        </p:nvSpPr>
        <p:spPr>
          <a:xfrm>
            <a:off x="868680" y="1664208"/>
            <a:ext cx="4544834" cy="307777"/>
          </a:xfrm>
          <a:prstGeom prst="rect">
            <a:avLst/>
          </a:prstGeom>
          <a:noFill/>
        </p:spPr>
        <p:txBody>
          <a:bodyPr wrap="none">
            <a:spAutoFit/>
          </a:bodyPr>
          <a:lstStyle/>
          <a:p>
            <a:pPr>
              <a:defRPr sz="900" b="1">
                <a:solidFill>
                  <a:srgbClr val="0284C7"/>
                </a:solidFill>
              </a:defRPr>
            </a:pPr>
            <a:r>
              <a:rPr sz="1400"/>
              <a:t>(a) Methodological Ground Simulation &amp; 3-Chamber Parity</a:t>
            </a:r>
          </a:p>
        </p:txBody>
      </p:sp>
      <p:pic>
        <p:nvPicPr>
          <p:cNvPr id="9" name="Picture 8" descr="Fig5b_flight_telemetry.png"/>
          <p:cNvPicPr>
            <a:picLocks noChangeAspect="1"/>
          </p:cNvPicPr>
          <p:nvPr/>
        </p:nvPicPr>
        <p:blipFill>
          <a:blip r:embed="rId4"/>
          <a:stretch>
            <a:fillRect/>
          </a:stretch>
        </p:blipFill>
        <p:spPr>
          <a:xfrm>
            <a:off x="6003841" y="1782131"/>
            <a:ext cx="5945852" cy="2535231"/>
          </a:xfrm>
          <a:prstGeom prst="rect">
            <a:avLst/>
          </a:prstGeom>
        </p:spPr>
      </p:pic>
      <p:sp>
        <p:nvSpPr>
          <p:cNvPr id="10" name="TextBox 9"/>
          <p:cNvSpPr txBox="1"/>
          <p:nvPr/>
        </p:nvSpPr>
        <p:spPr>
          <a:xfrm>
            <a:off x="6385255" y="1664208"/>
            <a:ext cx="4408194" cy="307777"/>
          </a:xfrm>
          <a:prstGeom prst="rect">
            <a:avLst/>
          </a:prstGeom>
          <a:noFill/>
        </p:spPr>
        <p:txBody>
          <a:bodyPr wrap="none">
            <a:spAutoFit/>
          </a:bodyPr>
          <a:lstStyle/>
          <a:p>
            <a:pPr>
              <a:defRPr sz="900" b="1">
                <a:solidFill>
                  <a:srgbClr val="0284C7"/>
                </a:solidFill>
              </a:defRPr>
            </a:pPr>
            <a:r>
              <a:rPr sz="1400" dirty="0"/>
              <a:t>(b) In-Chamber 3-Axis Fluxgate Magnetometer Telemetry</a:t>
            </a:r>
          </a:p>
        </p:txBody>
      </p:sp>
      <p:pic>
        <p:nvPicPr>
          <p:cNvPr id="12" name="Picture 11" descr="Fig5c_causal_rescue.png"/>
          <p:cNvPicPr>
            <a:picLocks noChangeAspect="1"/>
          </p:cNvPicPr>
          <p:nvPr/>
        </p:nvPicPr>
        <p:blipFill>
          <a:blip r:embed="rId5"/>
          <a:stretch>
            <a:fillRect/>
          </a:stretch>
        </p:blipFill>
        <p:spPr>
          <a:xfrm>
            <a:off x="154052" y="4130298"/>
            <a:ext cx="5945852" cy="2888569"/>
          </a:xfrm>
          <a:prstGeom prst="rect">
            <a:avLst/>
          </a:prstGeom>
        </p:spPr>
      </p:pic>
      <p:sp>
        <p:nvSpPr>
          <p:cNvPr id="13" name="TextBox 12"/>
          <p:cNvSpPr txBox="1"/>
          <p:nvPr/>
        </p:nvSpPr>
        <p:spPr>
          <a:xfrm>
            <a:off x="868680" y="4133088"/>
            <a:ext cx="4394408" cy="307777"/>
          </a:xfrm>
          <a:prstGeom prst="rect">
            <a:avLst/>
          </a:prstGeom>
          <a:noFill/>
        </p:spPr>
        <p:txBody>
          <a:bodyPr wrap="none">
            <a:spAutoFit/>
          </a:bodyPr>
          <a:lstStyle/>
          <a:p>
            <a:pPr>
              <a:defRPr sz="900" b="1">
                <a:solidFill>
                  <a:srgbClr val="0284C7"/>
                </a:solidFill>
              </a:defRPr>
            </a:pPr>
            <a:r>
              <a:rPr sz="1400"/>
              <a:t>(c) Active Causal Rescue: 40–50 µT Vector Re-Application</a:t>
            </a:r>
          </a:p>
        </p:txBody>
      </p:sp>
      <p:pic>
        <p:nvPicPr>
          <p:cNvPr id="15" name="Picture 14" descr="Fig5d_decision_matrix.png"/>
          <p:cNvPicPr>
            <a:picLocks noChangeAspect="1"/>
          </p:cNvPicPr>
          <p:nvPr/>
        </p:nvPicPr>
        <p:blipFill>
          <a:blip r:embed="rId6"/>
          <a:stretch>
            <a:fillRect/>
          </a:stretch>
        </p:blipFill>
        <p:spPr>
          <a:xfrm>
            <a:off x="6003841" y="3826933"/>
            <a:ext cx="5945852" cy="2959309"/>
          </a:xfrm>
          <a:prstGeom prst="rect">
            <a:avLst/>
          </a:prstGeom>
        </p:spPr>
      </p:pic>
      <p:sp>
        <p:nvSpPr>
          <p:cNvPr id="16" name="TextBox 15"/>
          <p:cNvSpPr txBox="1"/>
          <p:nvPr/>
        </p:nvSpPr>
        <p:spPr>
          <a:xfrm>
            <a:off x="6385255" y="4130298"/>
            <a:ext cx="3840410" cy="307777"/>
          </a:xfrm>
          <a:prstGeom prst="rect">
            <a:avLst/>
          </a:prstGeom>
          <a:noFill/>
        </p:spPr>
        <p:txBody>
          <a:bodyPr wrap="none">
            <a:spAutoFit/>
          </a:bodyPr>
          <a:lstStyle/>
          <a:p>
            <a:pPr>
              <a:defRPr sz="900" b="1">
                <a:solidFill>
                  <a:srgbClr val="0284C7"/>
                </a:solidFill>
              </a:defRPr>
            </a:pPr>
            <a:r>
              <a:rPr sz="1400" dirty="0"/>
              <a:t>(d) Predeclared Operational Flight Decision Gates</a:t>
            </a:r>
          </a:p>
        </p:txBody>
      </p:sp>
      <p:sp>
        <p:nvSpPr>
          <p:cNvPr id="18" name="Rectangle 17">
            <a:extLst>
              <a:ext uri="{FF2B5EF4-FFF2-40B4-BE49-F238E27FC236}">
                <a16:creationId xmlns:a16="http://schemas.microsoft.com/office/drawing/2014/main" id="{75EFEB68-2A6C-575C-1F2B-DFD18DCA7B90}"/>
              </a:ext>
            </a:extLst>
          </p:cNvPr>
          <p:cNvSpPr/>
          <p:nvPr/>
        </p:nvSpPr>
        <p:spPr>
          <a:xfrm>
            <a:off x="7763933" y="2133600"/>
            <a:ext cx="2461732" cy="42672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Ground control </a:t>
            </a:r>
            <a:r>
              <a:rPr lang="en-US" dirty="0" err="1"/>
              <a:t>expeirments</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8053" y="95703"/>
            <a:ext cx="10728655" cy="320040"/>
          </a:xfrm>
          <a:prstGeom prst="rect">
            <a:avLst/>
          </a:prstGeom>
          <a:noFill/>
        </p:spPr>
        <p:txBody>
          <a:bodyPr wrap="square">
            <a:spAutoFit/>
          </a:bodyPr>
          <a:lstStyle/>
          <a:p>
            <a:pPr>
              <a:defRPr sz="950" b="1">
                <a:solidFill>
                  <a:srgbClr val="0284C7"/>
                </a:solidFill>
              </a:defRPr>
            </a:pPr>
            <a:r>
              <a:t>TABLE 3 DEEP DIVE</a:t>
            </a:r>
          </a:p>
        </p:txBody>
      </p:sp>
      <p:sp>
        <p:nvSpPr>
          <p:cNvPr id="3" name="TextBox 2"/>
          <p:cNvSpPr txBox="1"/>
          <p:nvPr/>
        </p:nvSpPr>
        <p:spPr>
          <a:xfrm>
            <a:off x="88053" y="388311"/>
            <a:ext cx="10728655" cy="502920"/>
          </a:xfrm>
          <a:prstGeom prst="rect">
            <a:avLst/>
          </a:prstGeom>
          <a:noFill/>
        </p:spPr>
        <p:txBody>
          <a:bodyPr wrap="square">
            <a:spAutoFit/>
          </a:bodyPr>
          <a:lstStyle/>
          <a:p>
            <a:pPr>
              <a:defRPr sz="2000" b="1">
                <a:solidFill>
                  <a:srgbClr val="0F172A"/>
                </a:solidFill>
              </a:defRPr>
            </a:pPr>
            <a:r>
              <a:t>Artemis III LEAF Predeclared Operational Decision Gates</a:t>
            </a:r>
          </a:p>
        </p:txBody>
      </p:sp>
      <p:sp>
        <p:nvSpPr>
          <p:cNvPr id="4" name="TextBox 3"/>
          <p:cNvSpPr txBox="1"/>
          <p:nvPr/>
        </p:nvSpPr>
        <p:spPr>
          <a:xfrm>
            <a:off x="88053" y="723384"/>
            <a:ext cx="10728655" cy="365760"/>
          </a:xfrm>
          <a:prstGeom prst="rect">
            <a:avLst/>
          </a:prstGeom>
          <a:noFill/>
        </p:spPr>
        <p:txBody>
          <a:bodyPr wrap="square">
            <a:spAutoFit/>
          </a:bodyPr>
          <a:lstStyle/>
          <a:p>
            <a:pPr>
              <a:defRPr sz="1100" i="1">
                <a:solidFill>
                  <a:srgbClr val="475569"/>
                </a:solidFill>
              </a:defRPr>
            </a:pPr>
            <a:r>
              <a:rPr dirty="0"/>
              <a:t>Pre-agreed quantitative decision thresholds to ensure rigorous science and safeguard lunar crop viability</a:t>
            </a:r>
          </a:p>
        </p:txBody>
      </p:sp>
      <p:graphicFrame>
        <p:nvGraphicFramePr>
          <p:cNvPr id="5" name="Table 4"/>
          <p:cNvGraphicFramePr>
            <a:graphicFrameLocks noGrp="1"/>
          </p:cNvGraphicFramePr>
          <p:nvPr>
            <p:extLst>
              <p:ext uri="{D42A27DB-BD31-4B8C-83A1-F6EECF244321}">
                <p14:modId xmlns:p14="http://schemas.microsoft.com/office/powerpoint/2010/main" val="750564653"/>
              </p:ext>
            </p:extLst>
          </p:nvPr>
        </p:nvGraphicFramePr>
        <p:xfrm>
          <a:off x="305317" y="1359201"/>
          <a:ext cx="11643876" cy="5243076"/>
        </p:xfrm>
        <a:graphic>
          <a:graphicData uri="http://schemas.openxmlformats.org/drawingml/2006/table">
            <a:tbl>
              <a:tblPr firstRow="1" bandRow="1">
                <a:tableStyleId>{5C22544A-7EE6-4342-B048-85BDC9FD1C3A}</a:tableStyleId>
              </a:tblPr>
              <a:tblGrid>
                <a:gridCol w="1786327">
                  <a:extLst>
                    <a:ext uri="{9D8B030D-6E8A-4147-A177-3AD203B41FA5}">
                      <a16:colId xmlns:a16="http://schemas.microsoft.com/office/drawing/2014/main" val="20000"/>
                    </a:ext>
                  </a:extLst>
                </a:gridCol>
                <a:gridCol w="2580250">
                  <a:extLst>
                    <a:ext uri="{9D8B030D-6E8A-4147-A177-3AD203B41FA5}">
                      <a16:colId xmlns:a16="http://schemas.microsoft.com/office/drawing/2014/main" val="20001"/>
                    </a:ext>
                  </a:extLst>
                </a:gridCol>
                <a:gridCol w="3175693">
                  <a:extLst>
                    <a:ext uri="{9D8B030D-6E8A-4147-A177-3AD203B41FA5}">
                      <a16:colId xmlns:a16="http://schemas.microsoft.com/office/drawing/2014/main" val="20002"/>
                    </a:ext>
                  </a:extLst>
                </a:gridCol>
                <a:gridCol w="4101606">
                  <a:extLst>
                    <a:ext uri="{9D8B030D-6E8A-4147-A177-3AD203B41FA5}">
                      <a16:colId xmlns:a16="http://schemas.microsoft.com/office/drawing/2014/main" val="20003"/>
                    </a:ext>
                  </a:extLst>
                </a:gridCol>
              </a:tblGrid>
              <a:tr h="991933">
                <a:tc>
                  <a:txBody>
                    <a:bodyPr/>
                    <a:lstStyle/>
                    <a:p>
                      <a:pPr>
                        <a:defRPr sz="1000" b="1">
                          <a:solidFill>
                            <a:srgbClr val="F8FAFC"/>
                          </a:solidFill>
                        </a:defRPr>
                      </a:pPr>
                      <a:r>
                        <a:t>Flight Decision Gate</a:t>
                      </a:r>
                    </a:p>
                  </a:txBody>
                  <a:tcPr anchor="ctr">
                    <a:solidFill>
                      <a:srgbClr val="0B1E36"/>
                    </a:solidFill>
                  </a:tcPr>
                </a:tc>
                <a:tc>
                  <a:txBody>
                    <a:bodyPr/>
                    <a:lstStyle/>
                    <a:p>
                      <a:pPr>
                        <a:defRPr sz="1000" b="1">
                          <a:solidFill>
                            <a:srgbClr val="F8FAFC"/>
                          </a:solidFill>
                        </a:defRPr>
                      </a:pPr>
                      <a:r>
                        <a:t>Magnetic Field Telemetry</a:t>
                      </a:r>
                    </a:p>
                  </a:txBody>
                  <a:tcPr anchor="ctr">
                    <a:solidFill>
                      <a:srgbClr val="0B1E36"/>
                    </a:solidFill>
                  </a:tcPr>
                </a:tc>
                <a:tc>
                  <a:txBody>
                    <a:bodyPr/>
                    <a:lstStyle/>
                    <a:p>
                      <a:pPr>
                        <a:defRPr sz="1000" b="1">
                          <a:solidFill>
                            <a:srgbClr val="F8FAFC"/>
                          </a:solidFill>
                        </a:defRPr>
                      </a:pPr>
                      <a:r>
                        <a:t>Biological Metric Threshold</a:t>
                      </a:r>
                    </a:p>
                  </a:txBody>
                  <a:tcPr anchor="ctr">
                    <a:solidFill>
                      <a:srgbClr val="0B1E36"/>
                    </a:solidFill>
                  </a:tcPr>
                </a:tc>
                <a:tc>
                  <a:txBody>
                    <a:bodyPr/>
                    <a:lstStyle/>
                    <a:p>
                      <a:pPr>
                        <a:defRPr sz="1000" b="1">
                          <a:solidFill>
                            <a:srgbClr val="F8FAFC"/>
                          </a:solidFill>
                        </a:defRPr>
                      </a:pPr>
                      <a:r>
                        <a:t>Predeclared Operational Action</a:t>
                      </a:r>
                    </a:p>
                  </a:txBody>
                  <a:tcPr anchor="ctr">
                    <a:solidFill>
                      <a:srgbClr val="0B1E36"/>
                    </a:solidFill>
                  </a:tcPr>
                </a:tc>
                <a:extLst>
                  <a:ext uri="{0D108BD9-81ED-4DB2-BD59-A6C34878D82A}">
                    <a16:rowId xmlns:a16="http://schemas.microsoft.com/office/drawing/2014/main" val="10000"/>
                  </a:ext>
                </a:extLst>
              </a:tr>
              <a:tr h="1174125">
                <a:tc>
                  <a:txBody>
                    <a:bodyPr/>
                    <a:lstStyle/>
                    <a:p>
                      <a:pPr>
                        <a:defRPr sz="900" b="1">
                          <a:solidFill>
                            <a:srgbClr val="16A34A"/>
                          </a:solidFill>
                        </a:defRPr>
                      </a:pPr>
                      <a:r>
                        <a:rPr sz="800"/>
                        <a:t>GREEN GATE</a:t>
                      </a:r>
                    </a:p>
                    <a:p>
                      <a:r>
                        <a:rPr sz="1600"/>
                        <a:t>(Nominal Flight)</a:t>
                      </a:r>
                    </a:p>
                  </a:txBody>
                  <a:tcPr anchor="ctr">
                    <a:solidFill>
                      <a:srgbClr val="DCFCE7"/>
                    </a:solidFill>
                  </a:tcPr>
                </a:tc>
                <a:tc>
                  <a:txBody>
                    <a:bodyPr/>
                    <a:lstStyle/>
                    <a:p>
                      <a:pPr>
                        <a:defRPr sz="900">
                          <a:solidFill>
                            <a:srgbClr val="0F172A"/>
                          </a:solidFill>
                        </a:defRPr>
                      </a:pPr>
                      <a:r>
                        <a:rPr sz="1400" b="1" dirty="0"/>
                        <a:t>|</a:t>
                      </a:r>
                      <a:r>
                        <a:rPr sz="1400" b="1" dirty="0" err="1"/>
                        <a:t>B_total</a:t>
                      </a:r>
                      <a:r>
                        <a:rPr sz="1400" b="1" dirty="0"/>
                        <a:t>| &lt; 5.0 </a:t>
                      </a:r>
                      <a:r>
                        <a:rPr sz="1400" b="1" dirty="0" err="1"/>
                        <a:t>nT</a:t>
                      </a:r>
                      <a:endParaRPr sz="1400" b="1" dirty="0"/>
                    </a:p>
                    <a:p>
                      <a:r>
                        <a:rPr sz="1600" dirty="0"/>
                        <a:t>Steady-state near-null field;</a:t>
                      </a:r>
                    </a:p>
                    <a:p>
                      <a:r>
                        <a:rPr sz="1600" dirty="0"/>
                        <a:t>No lander EMI spikes (&gt;10 </a:t>
                      </a:r>
                      <a:r>
                        <a:rPr sz="1600" dirty="0" err="1"/>
                        <a:t>nT</a:t>
                      </a:r>
                      <a:r>
                        <a:rPr sz="1600" dirty="0"/>
                        <a:t>).</a:t>
                      </a:r>
                    </a:p>
                  </a:txBody>
                  <a:tcPr anchor="ctr">
                    <a:solidFill>
                      <a:srgbClr val="FFFFFF"/>
                    </a:solidFill>
                  </a:tcPr>
                </a:tc>
                <a:tc>
                  <a:txBody>
                    <a:bodyPr/>
                    <a:lstStyle/>
                    <a:p>
                      <a:pPr>
                        <a:defRPr sz="900">
                          <a:solidFill>
                            <a:srgbClr val="0F172A"/>
                          </a:solidFill>
                        </a:defRPr>
                      </a:pPr>
                      <a:r>
                        <a:rPr sz="1400" b="1" dirty="0"/>
                        <a:t>Germination Capacity ≥ 85%</a:t>
                      </a:r>
                    </a:p>
                    <a:p>
                      <a:r>
                        <a:rPr sz="1600" dirty="0"/>
                        <a:t>Normal t50 emergence velocity;</a:t>
                      </a:r>
                    </a:p>
                    <a:p>
                      <a:r>
                        <a:rPr sz="1600" dirty="0"/>
                        <a:t>Active hypocotyl greening.</a:t>
                      </a:r>
                    </a:p>
                  </a:txBody>
                  <a:tcPr anchor="ctr">
                    <a:solidFill>
                      <a:srgbClr val="FFFFFF"/>
                    </a:solidFill>
                  </a:tcPr>
                </a:tc>
                <a:tc>
                  <a:txBody>
                    <a:bodyPr/>
                    <a:lstStyle/>
                    <a:p>
                      <a:pPr>
                        <a:defRPr sz="900">
                          <a:solidFill>
                            <a:srgbClr val="0F172A"/>
                          </a:solidFill>
                        </a:defRPr>
                      </a:pPr>
                      <a:r>
                        <a:rPr sz="1400" b="1" dirty="0"/>
                        <a:t>Continue nominal autonomous flight timeline</a:t>
                      </a:r>
                      <a:r>
                        <a:rPr sz="800" dirty="0"/>
                        <a:t>.</a:t>
                      </a:r>
                    </a:p>
                    <a:p>
                      <a:r>
                        <a:rPr sz="1600" dirty="0"/>
                        <a:t>• 10 Hz magnetometer logging.</a:t>
                      </a:r>
                    </a:p>
                    <a:p>
                      <a:r>
                        <a:rPr sz="1600" dirty="0"/>
                        <a:t>• 30-minute multispectral camera imaging.</a:t>
                      </a:r>
                    </a:p>
                    <a:p>
                      <a:r>
                        <a:rPr sz="1600" dirty="0"/>
                        <a:t>• Standard environmental controls.</a:t>
                      </a:r>
                    </a:p>
                  </a:txBody>
                  <a:tcPr anchor="ctr">
                    <a:solidFill>
                      <a:srgbClr val="FFFFFF"/>
                    </a:solidFill>
                  </a:tcPr>
                </a:tc>
                <a:extLst>
                  <a:ext uri="{0D108BD9-81ED-4DB2-BD59-A6C34878D82A}">
                    <a16:rowId xmlns:a16="http://schemas.microsoft.com/office/drawing/2014/main" val="10001"/>
                  </a:ext>
                </a:extLst>
              </a:tr>
              <a:tr h="1417048">
                <a:tc>
                  <a:txBody>
                    <a:bodyPr/>
                    <a:lstStyle/>
                    <a:p>
                      <a:pPr>
                        <a:defRPr sz="900" b="1">
                          <a:solidFill>
                            <a:srgbClr val="D97706"/>
                          </a:solidFill>
                        </a:defRPr>
                      </a:pPr>
                      <a:r>
                        <a:rPr sz="800"/>
                        <a:t>AMBER GATE</a:t>
                      </a:r>
                    </a:p>
                    <a:p>
                      <a:r>
                        <a:rPr sz="1600"/>
                        <a:t>(Investigation / Caution)</a:t>
                      </a:r>
                    </a:p>
                  </a:txBody>
                  <a:tcPr anchor="ctr">
                    <a:solidFill>
                      <a:srgbClr val="FEF3C7"/>
                    </a:solidFill>
                  </a:tcPr>
                </a:tc>
                <a:tc>
                  <a:txBody>
                    <a:bodyPr/>
                    <a:lstStyle/>
                    <a:p>
                      <a:pPr>
                        <a:defRPr sz="900">
                          <a:solidFill>
                            <a:srgbClr val="0F172A"/>
                          </a:solidFill>
                        </a:defRPr>
                      </a:pPr>
                      <a:r>
                        <a:rPr sz="1400" b="1" dirty="0"/>
                        <a:t>5.0 </a:t>
                      </a:r>
                      <a:r>
                        <a:rPr sz="1400" b="1" dirty="0" err="1"/>
                        <a:t>nT</a:t>
                      </a:r>
                      <a:r>
                        <a:rPr sz="1400" b="1" dirty="0"/>
                        <a:t> ≤ |</a:t>
                      </a:r>
                      <a:r>
                        <a:rPr sz="1400" b="1" dirty="0" err="1"/>
                        <a:t>B_total</a:t>
                      </a:r>
                      <a:r>
                        <a:rPr sz="1400" b="1" dirty="0"/>
                        <a:t>| ≤ 50 </a:t>
                      </a:r>
                      <a:r>
                        <a:rPr sz="1400" b="1" dirty="0" err="1"/>
                        <a:t>n</a:t>
                      </a:r>
                      <a:r>
                        <a:rPr sz="1400" dirty="0" err="1"/>
                        <a:t>T</a:t>
                      </a:r>
                      <a:endParaRPr sz="1400" dirty="0"/>
                    </a:p>
                    <a:p>
                      <a:r>
                        <a:rPr sz="1600" dirty="0"/>
                        <a:t>Intermittent lander DC ripple</a:t>
                      </a:r>
                    </a:p>
                    <a:p>
                      <a:r>
                        <a:rPr sz="1600" dirty="0"/>
                        <a:t>or unexpected local anomaly.</a:t>
                      </a:r>
                    </a:p>
                  </a:txBody>
                  <a:tcPr anchor="ctr">
                    <a:solidFill>
                      <a:srgbClr val="FFFFFF"/>
                    </a:solidFill>
                  </a:tcPr>
                </a:tc>
                <a:tc>
                  <a:txBody>
                    <a:bodyPr/>
                    <a:lstStyle/>
                    <a:p>
                      <a:pPr>
                        <a:defRPr sz="900">
                          <a:solidFill>
                            <a:srgbClr val="0F172A"/>
                          </a:solidFill>
                        </a:defRPr>
                      </a:pPr>
                      <a:r>
                        <a:rPr sz="1400" b="1" dirty="0"/>
                        <a:t>15% to 30% Emergence Delay</a:t>
                      </a:r>
                    </a:p>
                    <a:p>
                      <a:r>
                        <a:rPr sz="1600" dirty="0"/>
                        <a:t>(t50 lag &gt; 18 h) or mild seedling</a:t>
                      </a:r>
                    </a:p>
                    <a:p>
                      <a:r>
                        <a:rPr sz="1600" dirty="0"/>
                        <a:t>chlorosis detected.</a:t>
                      </a:r>
                    </a:p>
                  </a:txBody>
                  <a:tcPr anchor="ctr">
                    <a:solidFill>
                      <a:srgbClr val="FFFFFF"/>
                    </a:solidFill>
                  </a:tcPr>
                </a:tc>
                <a:tc>
                  <a:txBody>
                    <a:bodyPr/>
                    <a:lstStyle/>
                    <a:p>
                      <a:pPr>
                        <a:defRPr sz="900">
                          <a:solidFill>
                            <a:srgbClr val="0F172A"/>
                          </a:solidFill>
                        </a:defRPr>
                      </a:pPr>
                      <a:r>
                        <a:rPr sz="1400" b="1" dirty="0"/>
                        <a:t>Initiate secondary optical diagnostics.</a:t>
                      </a:r>
                    </a:p>
                    <a:p>
                      <a:r>
                        <a:rPr sz="1600" dirty="0"/>
                        <a:t>• Command high-frequency imaging.</a:t>
                      </a:r>
                    </a:p>
                    <a:p>
                      <a:r>
                        <a:rPr sz="1600" dirty="0"/>
                        <a:t>• Cross-reference lander power bus telemetry.</a:t>
                      </a:r>
                    </a:p>
                    <a:p>
                      <a:r>
                        <a:rPr sz="1600" dirty="0"/>
                        <a:t>• Log potential electromagnetic interference.</a:t>
                      </a:r>
                    </a:p>
                  </a:txBody>
                  <a:tcPr anchor="ctr">
                    <a:solidFill>
                      <a:srgbClr val="FFFFFF"/>
                    </a:solidFill>
                  </a:tcPr>
                </a:tc>
                <a:extLst>
                  <a:ext uri="{0D108BD9-81ED-4DB2-BD59-A6C34878D82A}">
                    <a16:rowId xmlns:a16="http://schemas.microsoft.com/office/drawing/2014/main" val="10002"/>
                  </a:ext>
                </a:extLst>
              </a:tr>
              <a:tr h="1659970">
                <a:tc>
                  <a:txBody>
                    <a:bodyPr/>
                    <a:lstStyle/>
                    <a:p>
                      <a:pPr>
                        <a:defRPr sz="900" b="1">
                          <a:solidFill>
                            <a:srgbClr val="DC2626"/>
                          </a:solidFill>
                        </a:defRPr>
                      </a:pPr>
                      <a:r>
                        <a:rPr sz="800"/>
                        <a:t>RED GATE</a:t>
                      </a:r>
                    </a:p>
                    <a:p>
                      <a:r>
                        <a:rPr sz="1600"/>
                        <a:t>(Causal Intervention)</a:t>
                      </a:r>
                    </a:p>
                  </a:txBody>
                  <a:tcPr anchor="ctr">
                    <a:solidFill>
                      <a:srgbClr val="FEF2F2"/>
                    </a:solidFill>
                  </a:tcPr>
                </a:tc>
                <a:tc>
                  <a:txBody>
                    <a:bodyPr/>
                    <a:lstStyle/>
                    <a:p>
                      <a:pPr>
                        <a:defRPr sz="900">
                          <a:solidFill>
                            <a:srgbClr val="0F172A"/>
                          </a:solidFill>
                        </a:defRPr>
                      </a:pPr>
                      <a:r>
                        <a:rPr sz="1400" b="1" dirty="0"/>
                        <a:t>|</a:t>
                      </a:r>
                      <a:r>
                        <a:rPr sz="1400" b="1" dirty="0" err="1"/>
                        <a:t>B_total</a:t>
                      </a:r>
                      <a:r>
                        <a:rPr sz="1400" b="1" dirty="0"/>
                        <a:t>| &lt; 1.0 </a:t>
                      </a:r>
                      <a:r>
                        <a:rPr sz="1400" b="1" dirty="0" err="1"/>
                        <a:t>nT</a:t>
                      </a:r>
                      <a:r>
                        <a:rPr sz="1400" b="1" dirty="0"/>
                        <a:t> (Deep void)</a:t>
                      </a:r>
                    </a:p>
                    <a:p>
                      <a:r>
                        <a:rPr sz="1600" dirty="0"/>
                        <a:t>OR extreme uncontrolled</a:t>
                      </a:r>
                    </a:p>
                    <a:p>
                      <a:r>
                        <a:rPr sz="1600" dirty="0"/>
                        <a:t>EMI excursion (&gt;100 µT).</a:t>
                      </a:r>
                    </a:p>
                  </a:txBody>
                  <a:tcPr anchor="ctr">
                    <a:solidFill>
                      <a:srgbClr val="FFFFFF"/>
                    </a:solidFill>
                  </a:tcPr>
                </a:tc>
                <a:tc>
                  <a:txBody>
                    <a:bodyPr/>
                    <a:lstStyle/>
                    <a:p>
                      <a:pPr>
                        <a:defRPr sz="900">
                          <a:solidFill>
                            <a:srgbClr val="0F172A"/>
                          </a:solidFill>
                        </a:defRPr>
                      </a:pPr>
                      <a:r>
                        <a:rPr sz="1400" b="1" dirty="0"/>
                        <a:t>Germination Capacity Drop &gt; 30%</a:t>
                      </a:r>
                    </a:p>
                    <a:p>
                      <a:r>
                        <a:rPr sz="1600" dirty="0"/>
                        <a:t>or severe arrest of de-etiolation</a:t>
                      </a:r>
                    </a:p>
                    <a:p>
                      <a:r>
                        <a:rPr sz="1600" dirty="0"/>
                        <a:t>and visible chlorosis by Day 5.</a:t>
                      </a:r>
                    </a:p>
                  </a:txBody>
                  <a:tcPr anchor="ctr">
                    <a:solidFill>
                      <a:srgbClr val="FFFFFF"/>
                    </a:solidFill>
                  </a:tcPr>
                </a:tc>
                <a:tc>
                  <a:txBody>
                    <a:bodyPr/>
                    <a:lstStyle/>
                    <a:p>
                      <a:pPr>
                        <a:defRPr sz="900">
                          <a:solidFill>
                            <a:srgbClr val="0F172A"/>
                          </a:solidFill>
                        </a:defRPr>
                      </a:pPr>
                      <a:r>
                        <a:rPr sz="1400" b="1" dirty="0"/>
                        <a:t>EXECUTE ACTIVE CAUSAL RESCUE</a:t>
                      </a:r>
                      <a:r>
                        <a:rPr sz="800" dirty="0"/>
                        <a:t>:</a:t>
                      </a:r>
                    </a:p>
                    <a:p>
                      <a:r>
                        <a:rPr sz="1600" dirty="0"/>
                        <a:t>• Energize 3-axis compensation coils to re-apply 45 µT vector.</a:t>
                      </a:r>
                    </a:p>
                    <a:p>
                      <a:r>
                        <a:rPr sz="1600" dirty="0"/>
                        <a:t>• Restore terrestrial geomagnetic conditions.</a:t>
                      </a:r>
                    </a:p>
                    <a:p>
                      <a:r>
                        <a:rPr sz="1600" dirty="0"/>
                        <a:t>• Evaluate rescue of post-emergence seedling vigor.</a:t>
                      </a:r>
                    </a:p>
                  </a:txBody>
                  <a:tcPr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4986" y="137160"/>
            <a:ext cx="10728655" cy="320040"/>
          </a:xfrm>
          <a:prstGeom prst="rect">
            <a:avLst/>
          </a:prstGeom>
          <a:noFill/>
        </p:spPr>
        <p:txBody>
          <a:bodyPr wrap="square">
            <a:spAutoFit/>
          </a:bodyPr>
          <a:lstStyle/>
          <a:p>
            <a:pPr>
              <a:defRPr sz="950" b="1">
                <a:solidFill>
                  <a:srgbClr val="0284C7"/>
                </a:solidFill>
              </a:defRPr>
            </a:pPr>
            <a:r>
              <a:t>GRAPHICAL ABSTRACT | LSSR SUBMISSION SUMMARY</a:t>
            </a:r>
          </a:p>
        </p:txBody>
      </p:sp>
      <p:sp>
        <p:nvSpPr>
          <p:cNvPr id="3" name="TextBox 2"/>
          <p:cNvSpPr txBox="1"/>
          <p:nvPr/>
        </p:nvSpPr>
        <p:spPr>
          <a:xfrm>
            <a:off x="104986" y="429768"/>
            <a:ext cx="10728655" cy="502920"/>
          </a:xfrm>
          <a:prstGeom prst="rect">
            <a:avLst/>
          </a:prstGeom>
          <a:noFill/>
        </p:spPr>
        <p:txBody>
          <a:bodyPr wrap="square">
            <a:spAutoFit/>
          </a:bodyPr>
          <a:lstStyle/>
          <a:p>
            <a:pPr>
              <a:defRPr sz="2000" b="1">
                <a:solidFill>
                  <a:srgbClr val="0F172A"/>
                </a:solidFill>
              </a:defRPr>
            </a:pPr>
            <a:r>
              <a:rPr dirty="0"/>
              <a:t>The Complete Narrative in a Single Glance</a:t>
            </a:r>
          </a:p>
        </p:txBody>
      </p:sp>
      <p:sp>
        <p:nvSpPr>
          <p:cNvPr id="4" name="TextBox 3"/>
          <p:cNvSpPr txBox="1"/>
          <p:nvPr/>
        </p:nvSpPr>
        <p:spPr>
          <a:xfrm>
            <a:off x="104986" y="886968"/>
            <a:ext cx="10728655" cy="365760"/>
          </a:xfrm>
          <a:prstGeom prst="rect">
            <a:avLst/>
          </a:prstGeom>
          <a:noFill/>
        </p:spPr>
        <p:txBody>
          <a:bodyPr wrap="square">
            <a:spAutoFit/>
          </a:bodyPr>
          <a:lstStyle/>
          <a:p>
            <a:pPr>
              <a:defRPr sz="1100" i="1">
                <a:solidFill>
                  <a:srgbClr val="475569"/>
                </a:solidFill>
              </a:defRPr>
            </a:pPr>
            <a:r>
              <a:rPr dirty="0"/>
              <a:t>From lunar surface physics to 0–5 day developmental vulnerability and flight risk retirement</a:t>
            </a:r>
          </a:p>
        </p:txBody>
      </p:sp>
      <p:sp>
        <p:nvSpPr>
          <p:cNvPr id="5" name="Rounded Rectangle 4"/>
          <p:cNvSpPr/>
          <p:nvPr/>
        </p:nvSpPr>
        <p:spPr>
          <a:xfrm>
            <a:off x="731520" y="1645920"/>
            <a:ext cx="3474720" cy="46634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GA_panel1_problem.png"/>
          <p:cNvPicPr>
            <a:picLocks noChangeAspect="1"/>
          </p:cNvPicPr>
          <p:nvPr/>
        </p:nvPicPr>
        <p:blipFill>
          <a:blip r:embed="rId3"/>
          <a:srcRect l="21767" t="7339" r="21089" b="20208"/>
          <a:stretch>
            <a:fillRect/>
          </a:stretch>
        </p:blipFill>
        <p:spPr>
          <a:xfrm>
            <a:off x="1267761" y="1997830"/>
            <a:ext cx="2402238" cy="3959620"/>
          </a:xfrm>
          <a:prstGeom prst="rect">
            <a:avLst/>
          </a:prstGeom>
        </p:spPr>
      </p:pic>
      <p:sp>
        <p:nvSpPr>
          <p:cNvPr id="7" name="TextBox 6"/>
          <p:cNvSpPr txBox="1"/>
          <p:nvPr/>
        </p:nvSpPr>
        <p:spPr>
          <a:xfrm>
            <a:off x="822960" y="1691640"/>
            <a:ext cx="3291840" cy="320040"/>
          </a:xfrm>
          <a:prstGeom prst="rect">
            <a:avLst/>
          </a:prstGeom>
          <a:noFill/>
        </p:spPr>
        <p:txBody>
          <a:bodyPr wrap="none">
            <a:spAutoFit/>
          </a:bodyPr>
          <a:lstStyle/>
          <a:p>
            <a:pPr algn="ctr">
              <a:defRPr sz="1050" b="1">
                <a:solidFill>
                  <a:srgbClr val="0284C7"/>
                </a:solidFill>
              </a:defRPr>
            </a:pPr>
            <a:r>
              <a:t>(1) The Lunar Reality (&lt;0.8 nT Void)</a:t>
            </a:r>
          </a:p>
        </p:txBody>
      </p:sp>
      <p:sp>
        <p:nvSpPr>
          <p:cNvPr id="8" name="Rounded Rectangle 7"/>
          <p:cNvSpPr/>
          <p:nvPr/>
        </p:nvSpPr>
        <p:spPr>
          <a:xfrm>
            <a:off x="4343400" y="1645920"/>
            <a:ext cx="3474720" cy="46634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GA_panel2_mechanism.png"/>
          <p:cNvPicPr>
            <a:picLocks noChangeAspect="1"/>
          </p:cNvPicPr>
          <p:nvPr/>
        </p:nvPicPr>
        <p:blipFill>
          <a:blip r:embed="rId4">
            <a:clrChange>
              <a:clrFrom>
                <a:srgbClr val="FFF3E0"/>
              </a:clrFrom>
              <a:clrTo>
                <a:srgbClr val="FFF3E0">
                  <a:alpha val="0"/>
                </a:srgbClr>
              </a:clrTo>
            </a:clrChange>
          </a:blip>
          <a:srcRect l="16150" t="9201" r="12663" b="18904"/>
          <a:stretch>
            <a:fillRect/>
          </a:stretch>
        </p:blipFill>
        <p:spPr>
          <a:xfrm>
            <a:off x="4651041" y="2057400"/>
            <a:ext cx="2970504" cy="3900050"/>
          </a:xfrm>
          <a:prstGeom prst="rect">
            <a:avLst/>
          </a:prstGeom>
        </p:spPr>
      </p:pic>
      <p:sp>
        <p:nvSpPr>
          <p:cNvPr id="10" name="TextBox 9"/>
          <p:cNvSpPr txBox="1"/>
          <p:nvPr/>
        </p:nvSpPr>
        <p:spPr>
          <a:xfrm>
            <a:off x="4434840" y="1691640"/>
            <a:ext cx="3291840" cy="320040"/>
          </a:xfrm>
          <a:prstGeom prst="rect">
            <a:avLst/>
          </a:prstGeom>
          <a:noFill/>
        </p:spPr>
        <p:txBody>
          <a:bodyPr wrap="none">
            <a:spAutoFit/>
          </a:bodyPr>
          <a:lstStyle/>
          <a:p>
            <a:pPr algn="ctr">
              <a:defRPr sz="1050" b="1">
                <a:solidFill>
                  <a:srgbClr val="DC2626"/>
                </a:solidFill>
              </a:defRPr>
            </a:pPr>
            <a:r>
              <a:t>(2) The 0–5 Day Vulnerability Bottleneck</a:t>
            </a:r>
          </a:p>
        </p:txBody>
      </p:sp>
      <p:sp>
        <p:nvSpPr>
          <p:cNvPr id="11" name="Rounded Rectangle 10"/>
          <p:cNvSpPr/>
          <p:nvPr/>
        </p:nvSpPr>
        <p:spPr>
          <a:xfrm>
            <a:off x="7955279" y="1645920"/>
            <a:ext cx="3474720" cy="46634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GA_panel3_solution.png"/>
          <p:cNvPicPr>
            <a:picLocks noChangeAspect="1"/>
          </p:cNvPicPr>
          <p:nvPr/>
        </p:nvPicPr>
        <p:blipFill>
          <a:blip r:embed="rId5">
            <a:clrChange>
              <a:clrFrom>
                <a:srgbClr val="E8F5E9"/>
              </a:clrFrom>
              <a:clrTo>
                <a:srgbClr val="E8F5E9">
                  <a:alpha val="0"/>
                </a:srgbClr>
              </a:clrTo>
            </a:clrChange>
          </a:blip>
          <a:srcRect l="11066" t="6034" r="11517" b="18718"/>
          <a:stretch>
            <a:fillRect/>
          </a:stretch>
        </p:blipFill>
        <p:spPr>
          <a:xfrm>
            <a:off x="8125761" y="2011680"/>
            <a:ext cx="3122760" cy="3945770"/>
          </a:xfrm>
          <a:prstGeom prst="rect">
            <a:avLst/>
          </a:prstGeom>
        </p:spPr>
      </p:pic>
      <p:sp>
        <p:nvSpPr>
          <p:cNvPr id="13" name="TextBox 12"/>
          <p:cNvSpPr txBox="1"/>
          <p:nvPr/>
        </p:nvSpPr>
        <p:spPr>
          <a:xfrm>
            <a:off x="8046719" y="1691640"/>
            <a:ext cx="3291840" cy="320040"/>
          </a:xfrm>
          <a:prstGeom prst="rect">
            <a:avLst/>
          </a:prstGeom>
          <a:noFill/>
        </p:spPr>
        <p:txBody>
          <a:bodyPr wrap="none">
            <a:spAutoFit/>
          </a:bodyPr>
          <a:lstStyle/>
          <a:p>
            <a:pPr algn="ctr">
              <a:defRPr sz="1050" b="1">
                <a:solidFill>
                  <a:srgbClr val="16A34A"/>
                </a:solidFill>
              </a:defRPr>
            </a:pPr>
            <a:r>
              <a:t>(3) Flight Validation &amp; Risk Retirement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RESEARCH ROADMAP &amp; DISCUSSION</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Key Questions for the Working Group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Strategic priorities for Artemis III LEAF operations and long-duration lunar bioregenerative life support</a:t>
            </a:r>
          </a:p>
        </p:txBody>
      </p:sp>
      <p:sp>
        <p:nvSpPr>
          <p:cNvPr id="5" name="Rounded Rectangle 4"/>
          <p:cNvSpPr/>
          <p:nvPr/>
        </p:nvSpPr>
        <p:spPr>
          <a:xfrm>
            <a:off x="731520" y="1645920"/>
            <a:ext cx="10728655" cy="137160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737360"/>
            <a:ext cx="10362895" cy="1138773"/>
          </a:xfrm>
          <a:prstGeom prst="rect">
            <a:avLst/>
          </a:prstGeom>
          <a:noFill/>
        </p:spPr>
        <p:txBody>
          <a:bodyPr wrap="square">
            <a:spAutoFit/>
          </a:bodyPr>
          <a:lstStyle/>
          <a:p>
            <a:pPr>
              <a:defRPr sz="1150" b="1">
                <a:solidFill>
                  <a:srgbClr val="0284C7"/>
                </a:solidFill>
              </a:defRPr>
            </a:pPr>
            <a:r>
              <a:rPr sz="1200" dirty="0"/>
              <a:t>Question 1: Flight Payload Hardware Integration</a:t>
            </a:r>
          </a:p>
          <a:p>
            <a:pPr>
              <a:defRPr sz="950">
                <a:solidFill>
                  <a:srgbClr val="0F172A"/>
                </a:solidFill>
              </a:defRPr>
            </a:pPr>
            <a:r>
              <a:rPr sz="1400" dirty="0"/>
              <a:t>• How should Artemis LEAF and commercial lunar biological payloads integrate 3-axis fluxgate magnetometers without introducing thermal or EMI artifacts?</a:t>
            </a:r>
            <a:br>
              <a:rPr sz="1400" dirty="0"/>
            </a:br>
            <a:r>
              <a:rPr sz="1400" dirty="0"/>
              <a:t>• Where is the optimal mounting position relative to seedling cassettes and LEDs?</a:t>
            </a:r>
            <a:br>
              <a:rPr sz="1400" dirty="0"/>
            </a:br>
            <a:r>
              <a:rPr sz="1400" dirty="0"/>
              <a:t>• What telemetry sample rates (10 Hz vs. 1 Hz) are necessary to capture AC ripple?</a:t>
            </a:r>
          </a:p>
        </p:txBody>
      </p:sp>
      <p:sp>
        <p:nvSpPr>
          <p:cNvPr id="7" name="Rounded Rectangle 6"/>
          <p:cNvSpPr/>
          <p:nvPr/>
        </p:nvSpPr>
        <p:spPr>
          <a:xfrm>
            <a:off x="731520" y="3200400"/>
            <a:ext cx="10728655" cy="137160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3291840"/>
            <a:ext cx="10362895" cy="1138773"/>
          </a:xfrm>
          <a:prstGeom prst="rect">
            <a:avLst/>
          </a:prstGeom>
          <a:noFill/>
        </p:spPr>
        <p:txBody>
          <a:bodyPr wrap="square">
            <a:spAutoFit/>
          </a:bodyPr>
          <a:lstStyle/>
          <a:p>
            <a:pPr>
              <a:defRPr sz="1150" b="1">
                <a:solidFill>
                  <a:srgbClr val="D97706"/>
                </a:solidFill>
              </a:defRPr>
            </a:pPr>
            <a:r>
              <a:rPr sz="1200" dirty="0"/>
              <a:t>Question 2: Crop Plasticity &amp; Cultivar Selection</a:t>
            </a:r>
          </a:p>
          <a:p>
            <a:pPr>
              <a:defRPr sz="950">
                <a:solidFill>
                  <a:srgbClr val="0F172A"/>
                </a:solidFill>
              </a:defRPr>
            </a:pPr>
            <a:r>
              <a:rPr sz="1400" dirty="0"/>
              <a:t>• Which candidate space crops (Arabidopsis, microgreens, dwarf wheat, tomato) demonstrate natural genetic tolerance to near-null magnetic fields?</a:t>
            </a:r>
            <a:br>
              <a:rPr sz="1400" dirty="0"/>
            </a:br>
            <a:r>
              <a:rPr sz="1400" dirty="0"/>
              <a:t>• Can pre-flight seed conditioning (magnetic priming or epigenetic pre-exposure) mitigate the Day 0–5 germination and emergence lag?</a:t>
            </a:r>
            <a:br>
              <a:rPr sz="1400" dirty="0"/>
            </a:br>
            <a:r>
              <a:rPr sz="1400" dirty="0"/>
              <a:t>• How do mutant lines (e.g. cry1/cry2, hy5, aox1a/d) perform under simulated lunar fields?</a:t>
            </a:r>
          </a:p>
        </p:txBody>
      </p:sp>
      <p:sp>
        <p:nvSpPr>
          <p:cNvPr id="9" name="Rounded Rectangle 8"/>
          <p:cNvSpPr/>
          <p:nvPr/>
        </p:nvSpPr>
        <p:spPr>
          <a:xfrm>
            <a:off x="731520" y="4754880"/>
            <a:ext cx="10728655" cy="137160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4846320"/>
            <a:ext cx="10362895" cy="1292662"/>
          </a:xfrm>
          <a:prstGeom prst="rect">
            <a:avLst/>
          </a:prstGeom>
          <a:noFill/>
        </p:spPr>
        <p:txBody>
          <a:bodyPr wrap="square">
            <a:spAutoFit/>
          </a:bodyPr>
          <a:lstStyle/>
          <a:p>
            <a:pPr>
              <a:defRPr sz="1150" b="1">
                <a:solidFill>
                  <a:srgbClr val="16A34A"/>
                </a:solidFill>
              </a:defRPr>
            </a:pPr>
            <a:r>
              <a:rPr sz="1400" dirty="0"/>
              <a:t>Question 3: Active Magnetic Sub-Assemblies for BLSS</a:t>
            </a:r>
          </a:p>
          <a:p>
            <a:pPr>
              <a:defRPr sz="950">
                <a:solidFill>
                  <a:srgbClr val="0F172A"/>
                </a:solidFill>
              </a:defRPr>
            </a:pPr>
            <a:r>
              <a:rPr sz="1600" dirty="0"/>
              <a:t>• Should future lunar surface greenhouses incorporate triaxial Helmholtz coils as standard operational infrastructure?</a:t>
            </a:r>
            <a:br>
              <a:rPr sz="1600" dirty="0"/>
            </a:br>
            <a:r>
              <a:rPr sz="1600" dirty="0"/>
              <a:t>• What are the mass, volume, and power trade-offs of delivering a continuous 45 µT vector over square meters of plant canopy?</a:t>
            </a:r>
            <a:br>
              <a:rPr sz="1600" dirty="0"/>
            </a:br>
            <a:r>
              <a:rPr sz="1600" dirty="0"/>
              <a:t>• Does vector re-application completely restore nutritional quality and secondary metabolite profiles?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APPENDIX &amp; OPEN SCIENCE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FAIR Data Repositories, NASA OSDR Accessions &amp; Web Portal</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All manuscript drafts, figures, datasets, and analysis scripts are fully open and reproducible</a:t>
            </a:r>
          </a:p>
        </p:txBody>
      </p:sp>
      <p:sp>
        <p:nvSpPr>
          <p:cNvPr id="5" name="Rounded Rectangle 4"/>
          <p:cNvSpPr/>
          <p:nvPr/>
        </p:nvSpPr>
        <p:spPr>
          <a:xfrm>
            <a:off x="731520" y="1645920"/>
            <a:ext cx="5242255" cy="2148840"/>
          </a:xfrm>
          <a:prstGeom prst="roundRect">
            <a:avLst/>
          </a:prstGeom>
          <a:solidFill>
            <a:srgbClr val="E0F2FE"/>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783080"/>
            <a:ext cx="4959458" cy="1754326"/>
          </a:xfrm>
          <a:prstGeom prst="rect">
            <a:avLst/>
          </a:prstGeom>
          <a:noFill/>
        </p:spPr>
        <p:txBody>
          <a:bodyPr wrap="square">
            <a:spAutoFit/>
          </a:bodyPr>
          <a:lstStyle/>
          <a:p>
            <a:pPr>
              <a:defRPr sz="1100" b="1">
                <a:solidFill>
                  <a:srgbClr val="0284C7"/>
                </a:solidFill>
              </a:defRPr>
            </a:pPr>
            <a:r>
              <a:rPr sz="1200" dirty="0"/>
              <a:t>Manuscript &amp; Documents</a:t>
            </a:r>
          </a:p>
          <a:p>
            <a:pPr>
              <a:defRPr sz="880">
                <a:solidFill>
                  <a:srgbClr val="0F172A"/>
                </a:solidFill>
              </a:defRPr>
            </a:pPr>
            <a:r>
              <a:rPr sz="1200" dirty="0"/>
              <a:t>• Master Markdown: manuscript/</a:t>
            </a:r>
            <a:r>
              <a:rPr sz="1200" dirty="0" err="1"/>
              <a:t>Hypomagnetic_Lunar_Plant_Biology_LSSR_Review.md</a:t>
            </a:r>
            <a:br>
              <a:rPr sz="1200" dirty="0"/>
            </a:br>
            <a:r>
              <a:rPr sz="1200" dirty="0"/>
              <a:t>• Compiled Word Doc: </a:t>
            </a:r>
            <a:r>
              <a:rPr sz="1200" dirty="0" err="1"/>
              <a:t>Near_Null_Magnetic_Fields_Lunar_Plant_Biology_LSSR_Review.docx</a:t>
            </a:r>
            <a:r>
              <a:rPr sz="1200" dirty="0"/>
              <a:t> (2.96 MB)</a:t>
            </a:r>
            <a:br>
              <a:rPr sz="1200" dirty="0"/>
            </a:br>
            <a:r>
              <a:rPr sz="1200" dirty="0"/>
              <a:t>• </a:t>
            </a:r>
            <a:r>
              <a:rPr sz="1200" dirty="0" err="1"/>
              <a:t>BibTeX</a:t>
            </a:r>
            <a:r>
              <a:rPr sz="1200" dirty="0"/>
              <a:t> Library: </a:t>
            </a:r>
            <a:r>
              <a:rPr sz="1200" dirty="0" err="1"/>
              <a:t>references_LSSR.bib</a:t>
            </a:r>
            <a:r>
              <a:rPr sz="1200" dirty="0"/>
              <a:t> (79 audited references; </a:t>
            </a:r>
            <a:r>
              <a:rPr sz="1200" dirty="0" err="1"/>
              <a:t>CrossRef</a:t>
            </a:r>
            <a:r>
              <a:rPr sz="1200" dirty="0"/>
              <a:t>-verified)</a:t>
            </a:r>
            <a:br>
              <a:rPr sz="1200" dirty="0"/>
            </a:br>
            <a:r>
              <a:rPr sz="1200" dirty="0"/>
              <a:t>• Target Journal: Life Sciences in Space Research (COSPAR / Elsevier)</a:t>
            </a:r>
          </a:p>
        </p:txBody>
      </p:sp>
      <p:sp>
        <p:nvSpPr>
          <p:cNvPr id="8" name="TextBox 7"/>
          <p:cNvSpPr txBox="1"/>
          <p:nvPr/>
        </p:nvSpPr>
        <p:spPr>
          <a:xfrm>
            <a:off x="6292312" y="1775331"/>
            <a:ext cx="5370163" cy="1384995"/>
          </a:xfrm>
          <a:prstGeom prst="rect">
            <a:avLst/>
          </a:prstGeom>
          <a:noFill/>
        </p:spPr>
        <p:txBody>
          <a:bodyPr wrap="square">
            <a:spAutoFit/>
          </a:bodyPr>
          <a:lstStyle/>
          <a:p>
            <a:pPr>
              <a:defRPr sz="1100" b="1">
                <a:solidFill>
                  <a:srgbClr val="E2E8F0"/>
                </a:solidFill>
              </a:defRPr>
            </a:pPr>
            <a:r>
              <a:rPr sz="1200" dirty="0"/>
              <a:t>Processed Empirical Data Tables</a:t>
            </a:r>
          </a:p>
          <a:p>
            <a:pPr>
              <a:defRPr sz="880">
                <a:solidFill>
                  <a:srgbClr val="0F172A"/>
                </a:solidFill>
              </a:defRPr>
            </a:pPr>
            <a:r>
              <a:rPr sz="1200" dirty="0"/>
              <a:t>• data/</a:t>
            </a:r>
            <a:r>
              <a:rPr sz="1200" dirty="0" err="1"/>
              <a:t>landing_sites_magnetic.csv</a:t>
            </a:r>
            <a:r>
              <a:rPr sz="1200" dirty="0"/>
              <a:t> (Field magnitudes across 23 exploration sites)</a:t>
            </a:r>
            <a:br>
              <a:rPr sz="1200" dirty="0"/>
            </a:br>
            <a:r>
              <a:rPr sz="1200" dirty="0"/>
              <a:t>• data/</a:t>
            </a:r>
            <a:r>
              <a:rPr sz="1200" dirty="0" err="1"/>
              <a:t>lunar_mag_field_grid.csv</a:t>
            </a:r>
            <a:r>
              <a:rPr sz="1200" dirty="0"/>
              <a:t> (1° resolution Lunar Prospector / Kaguya total field)</a:t>
            </a:r>
            <a:br>
              <a:rPr sz="1200" dirty="0"/>
            </a:br>
            <a:r>
              <a:rPr sz="1200" dirty="0"/>
              <a:t>• data/</a:t>
            </a:r>
            <a:r>
              <a:rPr sz="1200" dirty="0" err="1"/>
              <a:t>seedling_kinetics_summary.csv</a:t>
            </a:r>
            <a:r>
              <a:rPr sz="1200" dirty="0"/>
              <a:t> (Empirical Day 0–5 germination kinetics)</a:t>
            </a:r>
            <a:br>
              <a:rPr sz="1200" dirty="0"/>
            </a:br>
            <a:r>
              <a:rPr sz="1200" dirty="0"/>
              <a:t>• data/multiomics_overlap_osd782_nnmf.csv (OSDR-782 vs. NNMF gene concordance)</a:t>
            </a:r>
          </a:p>
        </p:txBody>
      </p:sp>
      <p:sp>
        <p:nvSpPr>
          <p:cNvPr id="10" name="TextBox 9"/>
          <p:cNvSpPr txBox="1"/>
          <p:nvPr/>
        </p:nvSpPr>
        <p:spPr>
          <a:xfrm>
            <a:off x="914400" y="4114799"/>
            <a:ext cx="4876495" cy="1200329"/>
          </a:xfrm>
          <a:prstGeom prst="rect">
            <a:avLst/>
          </a:prstGeom>
          <a:noFill/>
        </p:spPr>
        <p:txBody>
          <a:bodyPr wrap="square">
            <a:spAutoFit/>
          </a:bodyPr>
          <a:lstStyle/>
          <a:p>
            <a:pPr>
              <a:defRPr sz="1100" b="1">
                <a:solidFill>
                  <a:srgbClr val="E2E8F0"/>
                </a:solidFill>
              </a:defRPr>
            </a:pPr>
            <a:r>
              <a:rPr sz="1200" dirty="0"/>
              <a:t>NASA Open Science Data Accessions</a:t>
            </a:r>
          </a:p>
          <a:p>
            <a:pPr>
              <a:defRPr sz="880">
                <a:solidFill>
                  <a:srgbClr val="0F172A"/>
                </a:solidFill>
              </a:defRPr>
            </a:pPr>
            <a:r>
              <a:rPr sz="1200" dirty="0"/>
              <a:t>• OSD-782: Arabidopsis thaliana response to 1 Gy ionizing radiation (rad-bio-app)</a:t>
            </a:r>
            <a:br>
              <a:rPr sz="1200" dirty="0"/>
            </a:br>
            <a:r>
              <a:rPr sz="1200" dirty="0"/>
              <a:t>• OSD-8: Spaceflight transcriptional response in Arabidopsis seedlings</a:t>
            </a:r>
            <a:br>
              <a:rPr sz="1200" dirty="0"/>
            </a:br>
            <a:r>
              <a:rPr sz="1200" dirty="0"/>
              <a:t>• OSD-27: Light quality and microgravity interactions in space crops</a:t>
            </a:r>
            <a:br>
              <a:rPr sz="1200" dirty="0"/>
            </a:br>
            <a:endParaRPr sz="1200" dirty="0"/>
          </a:p>
        </p:txBody>
      </p:sp>
      <p:sp>
        <p:nvSpPr>
          <p:cNvPr id="11" name="Rounded Rectangle 10"/>
          <p:cNvSpPr/>
          <p:nvPr/>
        </p:nvSpPr>
        <p:spPr>
          <a:xfrm>
            <a:off x="6217920" y="3977639"/>
            <a:ext cx="5242255" cy="2148840"/>
          </a:xfrm>
          <a:prstGeom prst="roundRect">
            <a:avLst/>
          </a:prstGeom>
          <a:solidFill>
            <a:srgbClr val="DCFCE7"/>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799" y="4133088"/>
            <a:ext cx="4998204" cy="1015663"/>
          </a:xfrm>
          <a:prstGeom prst="rect">
            <a:avLst/>
          </a:prstGeom>
          <a:noFill/>
        </p:spPr>
        <p:txBody>
          <a:bodyPr wrap="square">
            <a:spAutoFit/>
          </a:bodyPr>
          <a:lstStyle/>
          <a:p>
            <a:pPr>
              <a:defRPr sz="1100" b="1">
                <a:solidFill>
                  <a:srgbClr val="16A34A"/>
                </a:solidFill>
              </a:defRPr>
            </a:pPr>
            <a:r>
              <a:rPr sz="1200" dirty="0"/>
              <a:t>Interactive Web Portal &amp; Zenodo Release</a:t>
            </a:r>
          </a:p>
          <a:p>
            <a:pPr>
              <a:defRPr sz="880">
                <a:solidFill>
                  <a:srgbClr val="0F172A"/>
                </a:solidFill>
              </a:defRPr>
            </a:pPr>
            <a:r>
              <a:rPr sz="1200" dirty="0"/>
              <a:t>• GitHub Repository: https://</a:t>
            </a:r>
            <a:r>
              <a:rPr sz="1200" dirty="0" err="1"/>
              <a:t>github.com</a:t>
            </a:r>
            <a:r>
              <a:rPr sz="1200" dirty="0"/>
              <a:t>/dr-</a:t>
            </a:r>
            <a:r>
              <a:rPr sz="1200" dirty="0" err="1"/>
              <a:t>richard</a:t>
            </a:r>
            <a:r>
              <a:rPr sz="1200" dirty="0"/>
              <a:t>-barker/</a:t>
            </a:r>
            <a:r>
              <a:rPr sz="1200" dirty="0" err="1"/>
              <a:t>NMF_review</a:t>
            </a:r>
            <a:br>
              <a:rPr sz="1200" dirty="0"/>
            </a:br>
            <a:r>
              <a:rPr sz="1200" dirty="0"/>
              <a:t>• Zenodo Package: .</a:t>
            </a:r>
            <a:r>
              <a:rPr sz="1200" dirty="0" err="1"/>
              <a:t>zenodo.json</a:t>
            </a:r>
            <a:r>
              <a:rPr sz="1200" dirty="0"/>
              <a:t>, </a:t>
            </a:r>
            <a:r>
              <a:rPr sz="1200" dirty="0" err="1"/>
              <a:t>CITATION.cff</a:t>
            </a:r>
            <a:r>
              <a:rPr sz="1200" dirty="0"/>
              <a:t>, </a:t>
            </a:r>
            <a:r>
              <a:rPr sz="1200" dirty="0" err="1"/>
              <a:t>MANIFEST.tsv</a:t>
            </a:r>
            <a:r>
              <a:rPr sz="1200" dirty="0"/>
              <a:t>, CHECKSUMS.sha256</a:t>
            </a:r>
            <a:br>
              <a:rPr sz="1200" dirty="0"/>
            </a:br>
            <a:endParaRPr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TotalTime>
  <Words>5125</Words>
  <Application>Microsoft Macintosh PowerPoint</Application>
  <PresentationFormat>Widescreen</PresentationFormat>
  <Paragraphs>247</Paragraphs>
  <Slides>16</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Richard John Barker</cp:lastModifiedBy>
  <cp:revision>2</cp:revision>
  <dcterms:created xsi:type="dcterms:W3CDTF">2013-01-27T09:14:16Z</dcterms:created>
  <dcterms:modified xsi:type="dcterms:W3CDTF">2026-10-28T01:51:31Z</dcterms:modified>
  <cp:category/>
</cp:coreProperties>
</file>