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Ray Wheeler and Gioia Massa at NASA KSC, Barbara Demmig-Adams at CU Boulder, and Christine Chamberlain at Space Lab Technologies.</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is our operational blueprint for NASA and commercial spaceflight developers.</a:t>
            </a:r>
          </a:p>
          <a:p>
            <a:r>
              <a:t>• Panel (a) lays out our 3-chamber ground simulation standard. Historically, studies compared an ambient room to a mu-metal box without controlling for ohmic heat or fan airflow. We mandate: Chamber 1 (GMF control), Chamber 2 (Shielded/Cancelled NNMF), and Chamber 3 (Bifilar sham control with current matched but net magnetic field zero).</a:t>
            </a:r>
          </a:p>
          <a:p>
            <a:r>
              <a:t>• Panel (b) illustrates flight hardware integration. A miniature 3-axis fluxgate sensor (0.1 nT resolution) placed equidistant between seedling cassettes records real-time exposure.</a:t>
            </a:r>
          </a:p>
          <a:p>
            <a:r>
              <a:t>• Panel (c) is the causal rescue protocol: Re-applying a 45 µT vector inside the chamber rescues germination speed and HY5 pigment accumulation, establishing definitive causal proof.</a:t>
            </a:r>
          </a:p>
          <a:p>
            <a:r>
              <a:t>• Panel (d) defines predeclared operational flight decision gates: Green, Amber, and 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TABLE 3 DEEP DIVE):</a:t>
            </a:r>
          </a:p>
          <a:p>
            <a:r>
              <a:t>• This is Table 3 from the paper, built as a native PowerPoint table so you can edit the numbers or thresholds directly for specific payload proposals.</a:t>
            </a:r>
          </a:p>
          <a:p>
            <a:r>
              <a:t>• Spaceflight payload teams often struggle because decision criteria are not declared in advance. If seedlings don't emerge as planned on the Moon, payload operators are caught off guard.</a:t>
            </a:r>
          </a:p>
          <a:p>
            <a:r>
              <a:t>• Green Gate represents nominal science: field is below 5 nT, germination is normal (≥85%), we proceed autonomously.</a:t>
            </a:r>
          </a:p>
          <a:p>
            <a:r>
              <a:t>• Amber Gate is triggered if field ripples between 5 and 50 nT, or if emergence lags by 18 hours. We increase optical imaging frequency and correlate with lander bus power telemetry.</a:t>
            </a:r>
          </a:p>
          <a:p>
            <a:r>
              <a:t>• Red Gate is our contingency countermeasure: If germination drops by more than 30%, or seedlings exhibit severe chlorosis, the ground team commands the activation of active 45 µT Helmholtz coils to re-apply Earth's geomagnetic field.</a:t>
            </a:r>
          </a:p>
          <a:p>
            <a:r>
              <a:t>• This rescues crop viability and provides an ironclad causal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a:t>
            </a:r>
            <a:br/>
            <a:r>
              <a:t>Sofia Leiva Aldana, Ray Wheeler, Gioia Massa, Barbara Demmig-Adams, Marta Peirats-Llobet, Pamela Flores, Anirudha Dixit, Christine Chamberlain</a:t>
            </a:r>
          </a:p>
          <a:p>
            <a:pPr>
              <a:defRPr sz="950">
                <a:solidFill>
                  <a:srgbClr val="94A3B8"/>
                </a:solidFill>
              </a:defRPr>
            </a:pPr>
            <a:r>
              <a:t>Purdue University • NASA Kennedy Space Center • University of Colorado Boulder • Space Lab Technologies • La Trobe University</a:t>
            </a:r>
            <a:br/>
            <a:r>
              <a:t>*Corresponding Authors: porterf@purdue.edu, dr.richard.barker@gmail.com</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Flight Validation, Causal Rescue &amp; Artemis Risk Pipeline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in-situ 3-axis fluxgate telemetry, active 45 µT rescue coils, and predeclared flight gates</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&amp; 3-Chamber Parity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flight_telemetry.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In-Chamber 3-Axis Fluxgate Magnetometer Telemetry</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causal_rescue.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Active Causal Rescue: 40–50 µT Vector Re-Application</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5d_decision_matri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Predeclared Operational Flight Decision Gates</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Artemis III LEAF Predeclared Operational Decision Gates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Pre-agreed quantitative decision thresholds to ensure rigorous science and safeguard lunar crop viability</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1645920"/>
                <a:gridCol w="2377440"/>
                <a:gridCol w="2926080"/>
                <a:gridCol w="3779215"/>
              </a:tblGrid>
              <a:tr h="1120140">
                <a:tc>
                  <a:txBody>
                    <a:bodyPr/>
                    <a:lstStyle/>
                    <a:p>
                      <a:pPr>
                        <a:defRPr sz="1000" b="1">
                          <a:solidFill>
                            <a:srgbClr val="F8FAFC"/>
                          </a:solidFill>
                        </a:defRPr>
                      </a:pPr>
                      <a:r>
                        <a:t>Flight Decision Gate</a:t>
                      </a:r>
                    </a:p>
                  </a:txBody>
                  <a:tcPr anchor="ctr">
                    <a:solidFill>
                      <a:srgbClr val="0B1E36"/>
                    </a:solidFill>
                  </a:tcPr>
                </a:tc>
                <a:tc>
                  <a:txBody>
                    <a:bodyPr/>
                    <a:lstStyle/>
                    <a:p>
                      <a:pPr>
                        <a:defRPr sz="1000" b="1">
                          <a:solidFill>
                            <a:srgbClr val="F8FAFC"/>
                          </a:solidFill>
                        </a:defRPr>
                      </a:pPr>
                      <a:r>
                        <a:t>Magnetic Field Telemetry</a:t>
                      </a:r>
                    </a:p>
                  </a:txBody>
                  <a:tcPr anchor="ctr">
                    <a:solidFill>
                      <a:srgbClr val="0B1E36"/>
                    </a:solidFill>
                  </a:tcPr>
                </a:tc>
                <a:tc>
                  <a:txBody>
                    <a:bodyPr/>
                    <a:lstStyle/>
                    <a:p>
                      <a:pPr>
                        <a:defRPr sz="1000" b="1">
                          <a:solidFill>
                            <a:srgbClr val="F8FAFC"/>
                          </a:solidFill>
                        </a:defRPr>
                      </a:pPr>
                      <a:r>
                        <a:t>Biological Metric Threshold</a:t>
                      </a:r>
                    </a:p>
                  </a:txBody>
                  <a:tcPr anchor="ctr">
                    <a:solidFill>
                      <a:srgbClr val="0B1E36"/>
                    </a:solidFill>
                  </a:tcPr>
                </a:tc>
                <a:tc>
                  <a:txBody>
                    <a:bodyPr/>
                    <a:lstStyle/>
                    <a:p>
                      <a:pPr>
                        <a:defRPr sz="1000" b="1">
                          <a:solidFill>
                            <a:srgbClr val="F8FAFC"/>
                          </a:solidFill>
                        </a:defRPr>
                      </a:pPr>
                      <a:r>
                        <a:t>Predeclared Operational Action</a:t>
                      </a:r>
                    </a:p>
                  </a:txBody>
                  <a:tcPr anchor="ctr">
                    <a:solidFill>
                      <a:srgbClr val="0B1E36"/>
                    </a:solidFill>
                  </a:tcPr>
                </a:tc>
              </a:tr>
              <a:tr h="1120140">
                <a:tc>
                  <a:txBody>
                    <a:bodyPr/>
                    <a:lstStyle/>
                    <a:p>
                      <a:pPr>
                        <a:defRPr sz="900" b="1">
                          <a:solidFill>
                            <a:srgbClr val="16A34A"/>
                          </a:solidFill>
                        </a:defRPr>
                      </a:pPr>
                      <a:r>
                        <a:t>GREEN GATE</a:t>
                      </a:r>
                    </a:p>
                    <a:p>
                      <a:r>
                        <a:t>(Nominal Flight)</a:t>
                      </a:r>
                    </a:p>
                  </a:txBody>
                  <a:tcPr anchor="ctr">
                    <a:solidFill>
                      <a:srgbClr val="DCFCE7"/>
                    </a:solidFill>
                  </a:tcPr>
                </a:tc>
                <a:tc>
                  <a:txBody>
                    <a:bodyPr/>
                    <a:lstStyle/>
                    <a:p>
                      <a:pPr>
                        <a:defRPr sz="900">
                          <a:solidFill>
                            <a:srgbClr val="0F172A"/>
                          </a:solidFill>
                        </a:defRPr>
                      </a:pPr>
                      <a:r>
                        <a:t>|B_total| &lt; 5.0 nT</a:t>
                      </a:r>
                    </a:p>
                    <a:p>
                      <a:r>
                        <a:t>Steady-state near-null field;</a:t>
                      </a:r>
                    </a:p>
                    <a:p>
                      <a:r>
                        <a:t>No lander EMI spikes (&gt;10 nT).</a:t>
                      </a:r>
                    </a:p>
                  </a:txBody>
                  <a:tcPr anchor="ctr">
                    <a:solidFill>
                      <a:srgbClr val="FFFFFF"/>
                    </a:solidFill>
                  </a:tcPr>
                </a:tc>
                <a:tc>
                  <a:txBody>
                    <a:bodyPr/>
                    <a:lstStyle/>
                    <a:p>
                      <a:pPr>
                        <a:defRPr sz="900">
                          <a:solidFill>
                            <a:srgbClr val="0F172A"/>
                          </a:solidFill>
                        </a:defRPr>
                      </a:pPr>
                      <a:r>
                        <a:t>Germination Capacity ≥ 85%</a:t>
                      </a:r>
                    </a:p>
                    <a:p>
                      <a:r>
                        <a:t>Normal t50 emergence velocity;</a:t>
                      </a:r>
                    </a:p>
                    <a:p>
                      <a:r>
                        <a:t>Active hypocotyl greening.</a:t>
                      </a:r>
                    </a:p>
                  </a:txBody>
                  <a:tcPr anchor="ctr">
                    <a:solidFill>
                      <a:srgbClr val="FFFFFF"/>
                    </a:solidFill>
                  </a:tcPr>
                </a:tc>
                <a:tc>
                  <a:txBody>
                    <a:bodyPr/>
                    <a:lstStyle/>
                    <a:p>
                      <a:pPr>
                        <a:defRPr sz="900">
                          <a:solidFill>
                            <a:srgbClr val="0F172A"/>
                          </a:solidFill>
                        </a:defRPr>
                      </a:pPr>
                      <a:r>
                        <a:t>Continue nominal autonomous flight timeline.</a:t>
                      </a:r>
                    </a:p>
                    <a:p>
                      <a:r>
                        <a:t>• 10 Hz magnetometer logging.</a:t>
                      </a:r>
                    </a:p>
                    <a:p>
                      <a:r>
                        <a:t>• 30-minute multispectral camera imaging.</a:t>
                      </a:r>
                    </a:p>
                    <a:p>
                      <a:r>
                        <a:t>• Standard environmental controls.</a:t>
                      </a:r>
                    </a:p>
                  </a:txBody>
                  <a:tcPr anchor="ctr">
                    <a:solidFill>
                      <a:srgbClr val="FFFFFF"/>
                    </a:solidFill>
                  </a:tcPr>
                </a:tc>
              </a:tr>
              <a:tr h="1120140">
                <a:tc>
                  <a:txBody>
                    <a:bodyPr/>
                    <a:lstStyle/>
                    <a:p>
                      <a:pPr>
                        <a:defRPr sz="900" b="1">
                          <a:solidFill>
                            <a:srgbClr val="D97706"/>
                          </a:solidFill>
                        </a:defRPr>
                      </a:pPr>
                      <a:r>
                        <a:t>AMBER GATE</a:t>
                      </a:r>
                    </a:p>
                    <a:p>
                      <a:r>
                        <a:t>(Investigation / Caution)</a:t>
                      </a:r>
                    </a:p>
                  </a:txBody>
                  <a:tcPr anchor="ctr">
                    <a:solidFill>
                      <a:srgbClr val="FEF3C7"/>
                    </a:solidFill>
                  </a:tcPr>
                </a:tc>
                <a:tc>
                  <a:txBody>
                    <a:bodyPr/>
                    <a:lstStyle/>
                    <a:p>
                      <a:pPr>
                        <a:defRPr sz="900">
                          <a:solidFill>
                            <a:srgbClr val="0F172A"/>
                          </a:solidFill>
                        </a:defRPr>
                      </a:pPr>
                      <a:r>
                        <a:t>5.0 nT ≤ |B_total| ≤ 50 nT</a:t>
                      </a:r>
                    </a:p>
                    <a:p>
                      <a:r>
                        <a:t>Intermittent lander DC ripple</a:t>
                      </a:r>
                    </a:p>
                    <a:p>
                      <a:r>
                        <a:t>or unexpected local anomaly.</a:t>
                      </a:r>
                    </a:p>
                  </a:txBody>
                  <a:tcPr anchor="ctr">
                    <a:solidFill>
                      <a:srgbClr val="FFFFFF"/>
                    </a:solidFill>
                  </a:tcPr>
                </a:tc>
                <a:tc>
                  <a:txBody>
                    <a:bodyPr/>
                    <a:lstStyle/>
                    <a:p>
                      <a:pPr>
                        <a:defRPr sz="900">
                          <a:solidFill>
                            <a:srgbClr val="0F172A"/>
                          </a:solidFill>
                        </a:defRPr>
                      </a:pPr>
                      <a:r>
                        <a:t>15% to 30% Emergence Delay</a:t>
                      </a:r>
                    </a:p>
                    <a:p>
                      <a:r>
                        <a:t>(t50 lag &gt; 18 h) or mild seedling</a:t>
                      </a:r>
                    </a:p>
                    <a:p>
                      <a:r>
                        <a:t>chlorosis detected.</a:t>
                      </a:r>
                    </a:p>
                  </a:txBody>
                  <a:tcPr anchor="ctr">
                    <a:solidFill>
                      <a:srgbClr val="FFFFFF"/>
                    </a:solidFill>
                  </a:tcPr>
                </a:tc>
                <a:tc>
                  <a:txBody>
                    <a:bodyPr/>
                    <a:lstStyle/>
                    <a:p>
                      <a:pPr>
                        <a:defRPr sz="900">
                          <a:solidFill>
                            <a:srgbClr val="0F172A"/>
                          </a:solidFill>
                        </a:defRPr>
                      </a:pPr>
                      <a:r>
                        <a:t>Initiate secondary optical diagnostics.</a:t>
                      </a:r>
                    </a:p>
                    <a:p>
                      <a:r>
                        <a:t>• Command high-frequency imaging.</a:t>
                      </a:r>
                    </a:p>
                    <a:p>
                      <a:r>
                        <a:t>• Cross-reference lander power bus telemetry.</a:t>
                      </a:r>
                    </a:p>
                    <a:p>
                      <a:r>
                        <a:t>• Log potential electromagnetic interference.</a:t>
                      </a:r>
                    </a:p>
                  </a:txBody>
                  <a:tcPr anchor="ctr">
                    <a:solidFill>
                      <a:srgbClr val="FFFFFF"/>
                    </a:solidFill>
                  </a:tcPr>
                </a:tc>
              </a:tr>
              <a:tr h="1120140">
                <a:tc>
                  <a:txBody>
                    <a:bodyPr/>
                    <a:lstStyle/>
                    <a:p>
                      <a:pPr>
                        <a:defRPr sz="900" b="1">
                          <a:solidFill>
                            <a:srgbClr val="DC2626"/>
                          </a:solidFill>
                        </a:defRPr>
                      </a:pPr>
                      <a:r>
                        <a:t>RED GATE</a:t>
                      </a:r>
                    </a:p>
                    <a:p>
                      <a:r>
                        <a:t>(Causal Intervention)</a:t>
                      </a:r>
                    </a:p>
                  </a:txBody>
                  <a:tcPr anchor="ctr">
                    <a:solidFill>
                      <a:srgbClr val="FEF2F2"/>
                    </a:solidFill>
                  </a:tcPr>
                </a:tc>
                <a:tc>
                  <a:txBody>
                    <a:bodyPr/>
                    <a:lstStyle/>
                    <a:p>
                      <a:pPr>
                        <a:defRPr sz="900">
                          <a:solidFill>
                            <a:srgbClr val="0F172A"/>
                          </a:solidFill>
                        </a:defRPr>
                      </a:pPr>
                      <a:r>
                        <a:t>|B_total| &lt; 1.0 nT (Deep void)</a:t>
                      </a:r>
                    </a:p>
                    <a:p>
                      <a:r>
                        <a:t>OR extreme uncontrolled</a:t>
                      </a:r>
                    </a:p>
                    <a:p>
                      <a:r>
                        <a:t>EMI excursion (&gt;100 µT).</a:t>
                      </a:r>
                    </a:p>
                  </a:txBody>
                  <a:tcPr anchor="ctr">
                    <a:solidFill>
                      <a:srgbClr val="FFFFFF"/>
                    </a:solidFill>
                  </a:tcPr>
                </a:tc>
                <a:tc>
                  <a:txBody>
                    <a:bodyPr/>
                    <a:lstStyle/>
                    <a:p>
                      <a:pPr>
                        <a:defRPr sz="900">
                          <a:solidFill>
                            <a:srgbClr val="0F172A"/>
                          </a:solidFill>
                        </a:defRPr>
                      </a:pPr>
                      <a:r>
                        <a:t>Germination Capacity Drop &gt; 30%</a:t>
                      </a:r>
                    </a:p>
                    <a:p>
                      <a:r>
                        <a:t>or severe arrest of de-etiolation</a:t>
                      </a:r>
                    </a:p>
                    <a:p>
                      <a:r>
                        <a:t>and visible chlorosis by Day 5.</a:t>
                      </a:r>
                    </a:p>
                  </a:txBody>
                  <a:tcPr anchor="ctr">
                    <a:solidFill>
                      <a:srgbClr val="FFFFFF"/>
                    </a:solidFill>
                  </a:tcPr>
                </a:tc>
                <a:tc>
                  <a:txBody>
                    <a:bodyPr/>
                    <a:lstStyle/>
                    <a:p>
                      <a:pPr>
                        <a:defRPr sz="900">
                          <a:solidFill>
                            <a:srgbClr val="0F172A"/>
                          </a:solidFill>
                        </a:defRPr>
                      </a:pPr>
                      <a:r>
                        <a:t>EXECUTE ACTIVE CAUSAL RESCUE:</a:t>
                      </a:r>
                    </a:p>
                    <a:p>
                      <a:r>
                        <a:t>• Energize 3-axis compensation coils to re-apply 45 µT vector.</a:t>
                      </a:r>
                    </a:p>
                    <a:p>
                      <a:r>
                        <a:t>• Restore terrestrial geomagnetic conditions.</a:t>
                      </a:r>
                    </a:p>
                    <a:p>
                      <a:r>
                        <a:t>• Evaluate rescue of post-emergence seedling vigor.</a:t>
                      </a:r>
                    </a:p>
                  </a:txBody>
                  <a:tcPr anchor="ctr">
                    <a:solidFill>
                      <a:srgbClr val="FFFFFF"/>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