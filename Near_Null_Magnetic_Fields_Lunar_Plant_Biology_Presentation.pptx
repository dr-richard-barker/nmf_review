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Ray Wheeler and Gioia Massa at NASA KSC, Barbara Demmig-Adams at CU Boulder, and Christine Chamberlain at Space Lab Technologies.</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3 - FIGURE 1 MONTAGE):</a:t>
            </a:r>
          </a:p>
          <a:p>
            <a:r>
              <a:t>• Here is Figure 1 exactly as it appears in the manuscript, but reconstructed with independent, editable subpanels.</a:t>
            </a:r>
          </a:p>
          <a:p>
            <a:r>
              <a:t>• Panel (a) shows the global crustal magnetic field map from Lunar Prospector and Kaguya data at 30 km altitude. Notice that remanent crustal magnetization is concentrated in isolated swirls, while the South Polar region (dashed red box) is an extreme magnetic void.</a:t>
            </a:r>
          </a:p>
          <a:p>
            <a:r>
              <a:t>• Panel (b) zooms into the candidate Artemis South Pole landing sites. All sites, including Shackleton, Faustini Rim A, Haworth, and Connecting Ridge, fall strictly below 0.82 nT.</a:t>
            </a:r>
          </a:p>
          <a:p>
            <a:r>
              <a:t>• Panel (c) compares these sites across Apollo, Chang'e, and Artemis missions against Earth's field. Earth's dipolar field is 25,000–65,000 nT—over 30,000 times higher!</a:t>
            </a:r>
          </a:p>
          <a:p>
            <a:r>
              <a:t>• Panel (d) highlights a crucial operational trap: the net vector superposition. Unshielded lander avionics and DC power buses can emit 50–500 µT, completely swamping the natural lunar hypomagnetic vacuum unless sample-level 3-axis fluxgate magnetometers are deployed.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4 - FIGURE 1 DEEP DIVE):</a:t>
            </a:r>
          </a:p>
          <a:p>
            <a:r>
              <a:t>• Let's dive deeper into the physics of the lunar landing sites.</a:t>
            </a:r>
          </a:p>
          <a:p>
            <a:r>
              <a:t>• Notice from Table 1 that every single candidate landing site for Artemis III and future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FIGURE 2 MONTAGE):</a:t>
            </a:r>
          </a:p>
          <a:p>
            <a:r>
              <a:t>• Figure 2 focuses on the biological core of the paper: the first 5 days of growth (0–120 hours).</a:t>
            </a:r>
          </a:p>
          <a:p>
            <a:r>
              <a:t>• Panel (a) breaks down the developmental timeline into 4 distinct phases: Phase I imbibition (0–12 h), Phase II peroxisomal catabolism (12–48 h), Phase III radicle emergence (48–72 h), and Phase IV de-etiolation and autotrophic greening (72–120 h).</a:t>
            </a:r>
          </a:p>
          <a:p>
            <a:r>
              <a:t>• Panel (b) shows empirical germination kinetics. Under near-null magnetic fields, two critical defects occur: first, the total number of germinated seeds drops by 10–30%; second, the emergence speed (t50) is delayed by 12–36 hours.</a:t>
            </a:r>
          </a:p>
          <a:p>
            <a:r>
              <a:t>• Panel (c) shows the vegetative yield consequences: radicle elongation is reduced by 33%, hypocotyl height by 31%, and total fresh/dry biomass by 28.5% on Day 5.</a:t>
            </a:r>
          </a:p>
          <a:p>
            <a:r>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III,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7 - FIGURE 3 MONTAGE):</a:t>
            </a:r>
          </a:p>
          <a:p>
            <a:r>
              <a:t>• In Figure 3, we address the biophysical mechanism: How can an ambient magnetic field of less than 1 nanotesla produce measurable macroscopic changes in plant growth?</a:t>
            </a:r>
          </a:p>
          <a:p>
            <a:r>
              <a:t>• Thermal energy at room temperature (k_B * T) is orders of magnitude larger than magnetic Zeeman energy. Traditional thermodynamic arguments claimed magnetic fields couldn't affect biology.</a:t>
            </a:r>
          </a:p>
          <a:p>
            <a:r>
              <a:t>• The radical pair mechanism circumvents this thermodynamic equilibrium constraint. When cryptochromes absorb blue light, they form transient radical pairs between flavin adenine dinucleotide (FAD) and a triad of tryptophan residues.</a:t>
            </a:r>
          </a:p>
          <a:p>
            <a:r>
              <a:t>• Panel (a) illustrates the metabolic highway: triacylglycerols in peroxisomes undergo beta-oxidation, producing succinate which enters the mitochondrial electron transport chain.</a:t>
            </a:r>
          </a:p>
          <a:p>
            <a:r>
              <a:t>• Panel (b) introduces our rigorous 4-tier evidentiary hierarchy: T1 represents demonstrated quantum biology in cryptochromes; T2 represents plausible enzymatic radical pairs; T3 and T4 are speculative or context-based.</a:t>
            </a:r>
          </a:p>
          <a:p>
            <a:r>
              <a:t>• Panel (c) shows how chloroplasts and mitochondria act as the dual bioenergetic hubs that absorb these quantum perturbations.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9 - FIGURE 4 MONTAGE):</a:t>
            </a:r>
          </a:p>
          <a:p>
            <a:r>
              <a:t>• Figure 4 brings together the environmental multi-stressor nexus.</a:t>
            </a:r>
          </a:p>
          <a:p>
            <a:r>
              <a:t>• In real exploration missions, plants will not experience hypomagnetic fields in isolation. They will face them simultaneously with NASA's exploration atmosphere (56.5 kPa / 8.2 psia, 34% O2, and 1200–3000 ppm CO2) and chronic GCR radiation.</a:t>
            </a:r>
          </a:p>
          <a:p>
            <a:r>
              <a:t>• Panel (a) contrasts these baseline environmental parameters.</a:t>
            </a:r>
          </a:p>
          <a:p>
            <a:r>
              <a:t>• Panel (b) shows how these stressors interact at the biochemical level. Elevated CO2 suppresses RuBisCO oxygenation, shutting down peroxisomal H2O2 production. That shifts the electron burden onto mitochondria. When the ubiquinone pool becomes over-reduced, electrons leak, forming superoxide.</a:t>
            </a:r>
          </a:p>
          <a:p>
            <a:r>
              <a:t>• Alternative Oxidase (AOX1D) acts as an uncoupled safety valve, directly dumping electrons to oxygen without ATP synthesis to prevent ROS bursts.</a:t>
            </a:r>
          </a:p>
          <a:p>
            <a:r>
              <a:t>• In Panel (c), we validate this empirically: NASA OSDR dataset OSD-782 (ionizing radiation) and Parmagnani 2022 (near-null magnetic field) show concordant upregulation of AOX1D and CAT3.</a:t>
            </a:r>
          </a:p>
          <a:p>
            <a:r>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11 - FIGURE 5 MONTAGE):</a:t>
            </a:r>
          </a:p>
          <a:p>
            <a:r>
              <a:t>• Figure 5 is our operational blueprint for NASA and commercial spaceflight developers.</a:t>
            </a:r>
          </a:p>
          <a:p>
            <a:r>
              <a:t>• Panel (a) lays out our 3-chamber ground simulation standard. Historically, studies compared an ambient room to a mu-metal box without controlling for ohmic heat or fan airflow. We mandate: Chamber 1 (GMF control), Chamber 2 (Shielded/Cancelled NNMF), and Chamber 3 (Bifilar sham control with current matched but net magnetic field zero).</a:t>
            </a:r>
          </a:p>
          <a:p>
            <a:r>
              <a:t>• Panel (b) illustrates flight hardware integration. A miniature 3-axis fluxgate sensor (0.1 nT resolution) placed equidistant between seedling cassettes records real-time exposure.</a:t>
            </a:r>
          </a:p>
          <a:p>
            <a:r>
              <a:t>• Panel (c) is the causal rescue protocol: Re-applying a 45 µT vector inside the chamber rescues germination speed and HY5 pigment accumulation, establishing definitive causal proof.</a:t>
            </a:r>
          </a:p>
          <a:p>
            <a:r>
              <a:t>• Panel (d) defines predeclared operational flight decision gates: Green, Amber, and 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12 - TABLE 3 DEEP DIVE):</a:t>
            </a:r>
          </a:p>
          <a:p>
            <a:r>
              <a:t>• This is Table 3 from the paper, built as a native PowerPoint table so you can edit the numbers or thresholds directly for specific payload proposals.</a:t>
            </a:r>
          </a:p>
          <a:p>
            <a:r>
              <a:t>• Spaceflight payload teams often struggle because decision criteria are not declared in advance. If seedlings don't emerge as planned on the Moon, payload operators are caught off guard.</a:t>
            </a:r>
          </a:p>
          <a:p>
            <a:r>
              <a:t>• Green Gate represents nominal science: field is below 5 nT, germination is normal (≥85%), we proceed autonomously.</a:t>
            </a:r>
          </a:p>
          <a:p>
            <a:r>
              <a:t>• Amber Gate is triggered if field ripples between 5 and 50 nT, or if emergence lags by 18 hours. We increase optical imaging frequency and correlate with lander bus power telemetry.</a:t>
            </a:r>
          </a:p>
          <a:p>
            <a:r>
              <a:t>• Red Gate is our contingency countermeasure: If germination drops by more than 30%, or seedlings exhibit severe chlorosis, the ground team commands the activation of active 45 µT Helmholtz coils to re-apply Earth's geomagnetic field.</a:t>
            </a:r>
          </a:p>
          <a:p>
            <a:r>
              <a:t>• This rescues crop viability and provides an ironclad causal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6"/>
        </a:solidFill>
        <a:effectLst/>
      </p:bgPr>
    </p:bg>
    <p:spTree>
      <p:nvGrpSpPr>
        <p:cNvPr id="1" name=""/>
        <p:cNvGrpSpPr/>
        <p:nvPr/>
      </p:nvGrpSpPr>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t>COSPAR / ELSEVIER REVIEW ARTICLE — ARTEMIS III LEAF PERSPECTIVE</a:t>
            </a:r>
          </a:p>
        </p:txBody>
      </p:sp>
      <p:sp>
        <p:nvSpPr>
          <p:cNvPr id="4" name="TextBox 3"/>
          <p:cNvSpPr txBox="1"/>
          <p:nvPr/>
        </p:nvSpPr>
        <p:spPr>
          <a:xfrm>
            <a:off x="1097280" y="1371600"/>
            <a:ext cx="9875520" cy="1280160"/>
          </a:xfrm>
          <a:prstGeom prst="rect">
            <a:avLst/>
          </a:prstGeom>
          <a:noFill/>
        </p:spPr>
        <p:txBody>
          <a:bodyPr wrap="square">
            <a:spAutoFit/>
          </a:bodyPr>
          <a:lstStyle/>
          <a:p>
            <a:pPr>
              <a:defRPr sz="2800" b="1">
                <a:solidFill>
                  <a:srgbClr val="F8FAFC"/>
                </a:solidFill>
              </a:defRPr>
            </a:pPr>
            <a:r>
              <a:t>Near-Null Magnetic Fields in Lunar Plant Biology</a:t>
            </a:r>
          </a:p>
        </p:txBody>
      </p:sp>
      <p:sp>
        <p:nvSpPr>
          <p:cNvPr id="5" name="TextBox 4"/>
          <p:cNvSpPr txBox="1"/>
          <p:nvPr/>
        </p:nvSpPr>
        <p:spPr>
          <a:xfrm>
            <a:off x="1097280" y="2651760"/>
            <a:ext cx="9875520" cy="731520"/>
          </a:xfrm>
          <a:prstGeom prst="rect">
            <a:avLst/>
          </a:prstGeom>
          <a:noFill/>
        </p:spPr>
        <p:txBody>
          <a:bodyPr wrap="square">
            <a:spAutoFit/>
          </a:bodyPr>
          <a:lstStyle/>
          <a:p>
            <a:pPr>
              <a:defRPr sz="1400" i="1">
                <a:solidFill>
                  <a:srgbClr val="CBD5E1"/>
                </a:solidFill>
              </a:defRPr>
            </a:pPr>
            <a:r>
              <a:t>The First Five Days of Seedling Growth, Multi-Stressor Bioenergetics, and Implications for Artemis Agriculture</a:t>
            </a:r>
          </a:p>
        </p:txBody>
      </p:sp>
      <p:sp>
        <p:nvSpPr>
          <p:cNvPr id="6" name="TextBox 5"/>
          <p:cNvSpPr txBox="1"/>
          <p:nvPr/>
        </p:nvSpPr>
        <p:spPr>
          <a:xfrm>
            <a:off x="1097280" y="3474720"/>
            <a:ext cx="9875520" cy="914400"/>
          </a:xfrm>
          <a:prstGeom prst="rect">
            <a:avLst/>
          </a:prstGeom>
          <a:noFill/>
        </p:spPr>
        <p:txBody>
          <a:bodyPr wrap="square">
            <a:spAutoFit/>
          </a:bodyPr>
          <a:lstStyle/>
          <a:p>
            <a:pPr>
              <a:defRPr sz="1050" b="1">
                <a:solidFill>
                  <a:srgbClr val="F8FAFC"/>
                </a:solidFill>
              </a:defRPr>
            </a:pPr>
            <a:r>
              <a:t>D. Marshall Porterfield*, Richard J. Barker*, Caue Borlina, Aubrey O’Rourke, Adriana Sanchez, Manisha Dagar,</a:t>
            </a:r>
            <a:br/>
            <a:r>
              <a:t>Sofia Leiva Aldana, Ray Wheeler, Gioia Massa, Barbara Demmig-Adams, Marta Peirats-Llobet, Pamela Flores, Anirudha Dixit, Christine Chamberlain</a:t>
            </a:r>
          </a:p>
          <a:p>
            <a:pPr>
              <a:defRPr sz="950">
                <a:solidFill>
                  <a:srgbClr val="94A3B8"/>
                </a:solidFill>
              </a:defRPr>
            </a:pPr>
            <a:r>
              <a:t>Purdue University • NASA John F. Kennedy Space Center • University of Colorado Boulder • Space Lab Technologies</a:t>
            </a:r>
            <a:br/>
            <a:r>
              <a:t>*Corresponding Authors: porterf@purdue.edu, dr.richard.barker@gmail.com</a:t>
            </a:r>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III LEAF Payload  |  FAIR Repository &amp; CoSE Portal Ready</a:t>
            </a:r>
          </a:p>
        </p:txBody>
      </p:sp>
      <p:sp>
        <p:nvSpPr>
          <p:cNvPr id="8" name="TextBox 7"/>
          <p:cNvSpPr txBox="1"/>
          <p:nvPr/>
        </p:nvSpPr>
        <p:spPr>
          <a:xfrm>
            <a:off x="731520" y="6446520"/>
            <a:ext cx="10728655" cy="274320"/>
          </a:xfrm>
          <a:prstGeom prst="rect">
            <a:avLst/>
          </a:prstGeom>
          <a:noFill/>
        </p:spPr>
        <p:txBody>
          <a:bodyPr wrap="none">
            <a:spAutoFit/>
          </a:bodyPr>
          <a:lstStyle/>
          <a:p>
            <a:pPr>
              <a:defRPr sz="850">
                <a:solidFill>
                  <a:srgbClr val="94A3B8"/>
                </a:solidFill>
              </a:defRPr>
            </a:pPr>
            <a:r>
              <a:t>Life Sciences in Space Research (2026) | Artemis III LEAF Perspective              Slide 1 of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047695" cy="3017520"/>
          </a:xfrm>
          <a:prstGeom prst="rect">
            <a:avLst/>
          </a:prstGeom>
          <a:noFill/>
        </p:spPr>
        <p:txBody>
          <a:bodyPr wrap="square">
            <a:spAutoFit/>
          </a:bodyPr>
          <a:lstStyle/>
          <a:p>
            <a:pPr>
              <a:defRPr sz="1150" b="1">
                <a:solidFill>
                  <a:srgbClr val="0284C7"/>
                </a:solidFill>
              </a:defRPr>
            </a:pPr>
            <a:r>
              <a:t>1. The Physical Reality: Lunar Void (&lt;0.8 nT)</a:t>
            </a:r>
          </a:p>
          <a:p>
            <a:pPr>
              <a:defRPr sz="950">
                <a:solidFill>
                  <a:srgbClr val="0F172A"/>
                </a:solidFill>
              </a:defRPr>
            </a:pPr>
            <a:r>
              <a:t>• Earth dipolar field: 25,000–65,000 nT.</a:t>
            </a:r>
            <a:br/>
            <a:r>
              <a:t>• Lunar South Pole candidate sites: &lt;0.8 nT (&gt;30,000× lower).</a:t>
            </a:r>
            <a:br/>
            <a:r>
              <a:t>• Spacecraft DC bus interference (50–500 µT) can mask this hypomagnetic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37360"/>
            <a:ext cx="3047695" cy="3017520"/>
          </a:xfrm>
          <a:prstGeom prst="rect">
            <a:avLst/>
          </a:prstGeom>
          <a:noFill/>
        </p:spPr>
        <p:txBody>
          <a:bodyPr wrap="square">
            <a:spAutoFit/>
          </a:bodyPr>
          <a:lstStyle/>
          <a:p>
            <a:pPr>
              <a:defRPr sz="1150" b="1">
                <a:solidFill>
                  <a:srgbClr val="DC2626"/>
                </a:solidFill>
              </a:defRPr>
            </a:pPr>
            <a:r>
              <a:t>2. The First 5 Days: The Developmental Bottleneck</a:t>
            </a:r>
          </a:p>
          <a:p>
            <a:pPr>
              <a:defRPr sz="950">
                <a:solidFill>
                  <a:srgbClr val="0F172A"/>
                </a:solidFill>
              </a:defRPr>
            </a:pPr>
            <a:r>
              <a:t>• 0–120 hours post-imbibition dictates crop establishment.</a:t>
            </a:r>
            <a:br/>
            <a:r>
              <a:t>• Suppresses germination capacity (-10% to -30% count).</a:t>
            </a:r>
            <a:br/>
            <a:r>
              <a:t>• Retards emergence speed (t50 lag of 12–36 hours).</a:t>
            </a:r>
            <a:br/>
            <a:r>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37360"/>
            <a:ext cx="3047695" cy="3017520"/>
          </a:xfrm>
          <a:prstGeom prst="rect">
            <a:avLst/>
          </a:prstGeom>
          <a:noFill/>
        </p:spPr>
        <p:txBody>
          <a:bodyPr wrap="square">
            <a:spAutoFit/>
          </a:bodyPr>
          <a:lstStyle/>
          <a:p>
            <a:pPr>
              <a:defRPr sz="1150" b="1">
                <a:solidFill>
                  <a:srgbClr val="16A34A"/>
                </a:solidFill>
              </a:defRPr>
            </a:pPr>
            <a:r>
              <a:t>3. Multi-Stressor Convergence on Mitochondria</a:t>
            </a:r>
          </a:p>
          <a:p>
            <a:pPr>
              <a:defRPr sz="950">
                <a:solidFill>
                  <a:srgbClr val="0F172A"/>
                </a:solidFill>
              </a:defRPr>
            </a:pPr>
            <a:r>
              <a:t>• Exploration atmosphere (56.5 kPa, 34% O2, high CO2) suppresses photorespiratory peroxisomal H2O2.</a:t>
            </a:r>
            <a:br/>
            <a:r>
              <a:t>• Electron burden shifts to mitochondria, causing ubiquinone (UQ) over-reduction.</a:t>
            </a:r>
            <a:br/>
            <a:r>
              <a:t>• Alternative Oxidase (AOX1D) induced to vent excess electrons; directly parallels human astronaut mitochondrial stress.</a:t>
            </a:r>
          </a:p>
        </p:txBody>
      </p:sp>
      <p:sp>
        <p:nvSpPr>
          <p:cNvPr id="11" name="Rounded Rectangle 10"/>
          <p:cNvSpPr/>
          <p:nvPr/>
        </p:nvSpPr>
        <p:spPr>
          <a:xfrm>
            <a:off x="731520" y="5074920"/>
            <a:ext cx="10728655"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66360"/>
            <a:ext cx="10362895" cy="1005840"/>
          </a:xfrm>
          <a:prstGeom prst="rect">
            <a:avLst/>
          </a:prstGeom>
          <a:noFill/>
        </p:spPr>
        <p:txBody>
          <a:bodyPr wrap="square">
            <a:spAutoFit/>
          </a:bodyPr>
          <a:lstStyle/>
          <a:p>
            <a:pPr>
              <a:defRPr sz="950" b="1">
                <a:solidFill>
                  <a:srgbClr val="0284C7"/>
                </a:solidFill>
              </a:defRPr>
            </a:pPr>
            <a:r>
              <a:t>THE 5 CORE CONCEPTS INTEGRATED INTO THIS REVIEW:</a:t>
            </a:r>
          </a:p>
          <a:p>
            <a:pPr>
              <a:defRPr sz="880">
                <a:solidFill>
                  <a:srgbClr val="0F172A"/>
                </a:solidFill>
              </a:defRPr>
            </a:pPr>
            <a:r>
              <a:t>1. Lunar Near-Null Reality (&lt;0.8 nT)  |  2. Altered Germination Capacity (# Seedlings)  |  3. Delayed Emergence Velocity &amp; Biomass Yield</a:t>
            </a:r>
            <a:br/>
            <a:r>
              <a:t>4. Cryptochrome/HY5 Pigment Repression  |  5. Multi-Stressor CO2 ↔ O2 ↔ ROS Convergence with Radiation &amp; Astronaut Parallels</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2 of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a_global_map.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Global Lunar Crustal Magnetic Field Distribution (|B| at 30 km)</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b_south_pole_artemi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Artemis South Polar Exploration Footprint (&lt;0.8 nT Void)</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1c_landing_sites_bar.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Field Magnitude at Historical &amp; Candidate Sites vs. Earth GMF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1d_superposition_bo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Vector Superposition &amp; Lander DC Interference Hazard</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3 of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Planetary Magnetic Fields &amp; The Lander Interference Trap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sp>
        <p:nvSpPr>
          <p:cNvPr id="5" name="Rounded Rectangle 4"/>
          <p:cNvSpPr/>
          <p:nvPr/>
        </p:nvSpPr>
        <p:spPr>
          <a:xfrm>
            <a:off x="731520" y="160020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b_south_pole_artemis.png"/>
          <p:cNvPicPr>
            <a:picLocks noChangeAspect="1"/>
          </p:cNvPicPr>
          <p:nvPr/>
        </p:nvPicPr>
        <p:blipFill>
          <a:blip r:embed="rId2"/>
          <a:stretch>
            <a:fillRect/>
          </a:stretch>
        </p:blipFill>
        <p:spPr>
          <a:xfrm>
            <a:off x="822960" y="1691640"/>
            <a:ext cx="4937760" cy="2057400"/>
          </a:xfrm>
          <a:prstGeom prst="rect">
            <a:avLst/>
          </a:prstGeom>
        </p:spPr>
      </p:pic>
      <p:sp>
        <p:nvSpPr>
          <p:cNvPr id="7" name="Rounded Rectangle 6"/>
          <p:cNvSpPr/>
          <p:nvPr/>
        </p:nvSpPr>
        <p:spPr>
          <a:xfrm>
            <a:off x="731520" y="3977639"/>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d_superposition_box.png"/>
          <p:cNvPicPr>
            <a:picLocks noChangeAspect="1"/>
          </p:cNvPicPr>
          <p:nvPr/>
        </p:nvPicPr>
        <p:blipFill>
          <a:blip r:embed="rId3"/>
          <a:stretch>
            <a:fillRect/>
          </a:stretch>
        </p:blipFill>
        <p:spPr>
          <a:xfrm>
            <a:off x="822960" y="4069080"/>
            <a:ext cx="4937760" cy="214884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TABLE 1: CANDIDATE ARTEMIS SITES VS. HISTORICAL SITES</a:t>
            </a:r>
          </a:p>
          <a:p>
            <a:pPr>
              <a:defRPr sz="950">
                <a:solidFill>
                  <a:srgbClr val="0F172A"/>
                </a:solidFill>
              </a:defRPr>
            </a:pPr>
            <a:r>
              <a:t>• Faustini Rim A: 0.45 nT (Near-null void)</a:t>
            </a:r>
            <a:br/>
            <a:r>
              <a:t>• Haworth Crater: 0.40 nT (Deep near-null void)</a:t>
            </a:r>
            <a:br/>
            <a:r>
              <a:t>• Connecting Ridge: 0.60 nT (Near-null void)</a:t>
            </a:r>
            <a:br/>
            <a:r>
              <a:t>• Peak Near Shackleton: 0.82 nT (Near-null void)</a:t>
            </a:r>
            <a:br/>
            <a:r>
              <a:t>• Apollo 16 (Descartes): 4.94 nT (Crustal swirl paleomagnetism)</a:t>
            </a:r>
            <a:br/>
            <a:r>
              <a:t>• Earth Dipolar Surface: 25,000 – 65,000 nT (&gt;30,000× higher)</a:t>
            </a:r>
          </a:p>
          <a:p>
            <a:br/>
            <a:pPr>
              <a:defRPr sz="1100" b="1">
                <a:solidFill>
                  <a:srgbClr val="DC2626"/>
                </a:solidFill>
              </a:defRPr>
            </a:pPr>
            <a:r>
              <a:t>THE CRITICAL SUPERPOSITION HAZARD:</a:t>
            </a:r>
          </a:p>
          <a:p>
            <a:pPr>
              <a:defRPr sz="919">
                <a:solidFill>
                  <a:srgbClr val="0F172A"/>
                </a:solidFill>
              </a:defRPr>
            </a:pPr>
            <a:r>
              <a:t>1. The Vector Equation:</a:t>
            </a:r>
            <a:br/>
            <a:r>
              <a:t>   B_total(t, x) = B_crust + B_ext + B_lander + B_payload + B_control</a:t>
            </a:r>
            <a:br/>
            <a:r>
              <a:t>2. The Lander Confounder:</a:t>
            </a:r>
            <a:br/>
            <a:r>
              <a:t>   Commercial lunar landers carry heavy DC power wiring, batteries, and reaction wheels that produce localized fields of 50–500 µT.</a:t>
            </a:r>
            <a:br/>
            <a:r>
              <a:t>3. The Operational Mandate:</a:t>
            </a:r>
            <a:br/>
            <a:r>
              <a:t>   Unless biological growth chambers feature sample-level 3-axis fluxgate telemetry, experiments risk measuring stray avionics EMI rather than true lunar near-null biology!</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4 of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5day_timelin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5-Day Developmental Timeline: Imbibition to Autotrophy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germination_kinetic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Germination Capacity (#) &amp; Kinetics Lag (t50: +12 to +36 h)</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2c_biomass_yield.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Seedling Elongation, Vigor &amp; Harvestable Biomass Yield Penalty</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2d_pigment_pathway.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Cryptochrome/HY5 Downregulation &amp; Pigment Repression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5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Day 0–5 Bottleneck: Emergence Kinetics &amp; Biomass Deficits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b_germination_kinetic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2c_biomass_yield.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AGRONOMIC &amp; CELLULAR CONSEQUENCES OF NNMF:</a:t>
            </a:r>
          </a:p>
          <a:p>
            <a:pPr>
              <a:defRPr sz="919">
                <a:solidFill>
                  <a:srgbClr val="0F172A"/>
                </a:solidFill>
              </a:defRPr>
            </a:pPr>
            <a:r>
              <a:t>1. Emergence Velocity Lag (Δt50 = 12–36 hours):</a:t>
            </a:r>
            <a:br/>
            <a:r>
              <a:t>   • Delayed water uptake in Phase I and slowed endosperm reserve mobilization.</a:t>
            </a:r>
            <a:br/>
            <a:r>
              <a:t>   • Testa rupture is postponed, shifting the entire autotrophic transition window.</a:t>
            </a:r>
            <a:br/>
            <a:br/>
            <a:r>
              <a:t>2. Cellular Division &amp; Auxin Transport Suppression:</a:t>
            </a:r>
            <a:br/>
            <a:r>
              <a:t>   • Dampened mitotic index in the root apical meristem (RAM).</a:t>
            </a:r>
            <a:br/>
            <a:r>
              <a:t>   • Disrupted polar localization of PIN2 auxin efflux carriers causes stunted, disoriented primary roots.</a:t>
            </a:r>
            <a:br/>
            <a:br/>
            <a:r>
              <a:t>3. Crop Biomass &amp; Canopy Interception Loss:</a:t>
            </a:r>
            <a:br/>
            <a:r>
              <a:t>   • Radicle length: -33.0% on Day 3</a:t>
            </a:r>
            <a:br/>
            <a:r>
              <a:t>   • Hypocotyl height: -31.0% on Day 5</a:t>
            </a:r>
            <a:br/>
            <a:r>
              <a:t>   • Total fresh biomass: -29.1% deficit on Day 5</a:t>
            </a:r>
            <a:br/>
            <a:br/>
            <a:r>
              <a:t>4. Operational BLSS Impact:</a:t>
            </a:r>
            <a:br/>
            <a:r>
              <a:t>   • Uneven seedling emergence creates patchy canopy architecture.</a:t>
            </a:r>
            <a:br/>
            <a:r>
              <a:t>   • Sub-optimal light interception dampens net photosynthetic CO2 scrubbing and fresh food yields, threatening tight mission dietary schedules.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6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sp>
        <p:nvSpPr>
          <p:cNvPr id="5" name="Rounded Rectangle 4"/>
          <p:cNvSpPr/>
          <p:nvPr/>
        </p:nvSpPr>
        <p:spPr>
          <a:xfrm>
            <a:off x="731520" y="160020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a_qbm06_pathway.png"/>
          <p:cNvPicPr>
            <a:picLocks noChangeAspect="1"/>
          </p:cNvPicPr>
          <p:nvPr/>
        </p:nvPicPr>
        <p:blipFill>
          <a:blip r:embed="rId2"/>
          <a:stretch>
            <a:fillRect/>
          </a:stretch>
        </p:blipFill>
        <p:spPr>
          <a:xfrm>
            <a:off x="822960" y="1920240"/>
            <a:ext cx="10545775" cy="1856232"/>
          </a:xfrm>
          <a:prstGeom prst="rect">
            <a:avLst/>
          </a:prstGeom>
        </p:spPr>
      </p:pic>
      <p:sp>
        <p:nvSpPr>
          <p:cNvPr id="7" name="TextBox 6"/>
          <p:cNvSpPr txBox="1"/>
          <p:nvPr/>
        </p:nvSpPr>
        <p:spPr>
          <a:xfrm>
            <a:off x="868680" y="1645920"/>
            <a:ext cx="10728655" cy="274320"/>
          </a:xfrm>
          <a:prstGeom prst="rect">
            <a:avLst/>
          </a:prstGeom>
          <a:noFill/>
        </p:spPr>
        <p:txBody>
          <a:bodyPr wrap="none">
            <a:spAutoFit/>
          </a:bodyPr>
          <a:lstStyle/>
          <a:p>
            <a:pPr>
              <a:defRPr sz="900" b="1">
                <a:solidFill>
                  <a:srgbClr val="0284C7"/>
                </a:solidFill>
              </a:defRPr>
            </a:pPr>
            <a:r>
              <a:t>(a) QBM-06 Pathway: Reserve Mobilization, Peroxisomal β-Oxidation &amp; Mitochondrial Respiration (0–72 h)</a:t>
            </a:r>
          </a:p>
        </p:txBody>
      </p:sp>
      <p:sp>
        <p:nvSpPr>
          <p:cNvPr id="8" name="Rounded Rectangle 7"/>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b_evidentiary_tiers.png"/>
          <p:cNvPicPr>
            <a:picLocks noChangeAspect="1"/>
          </p:cNvPicPr>
          <p:nvPr/>
        </p:nvPicPr>
        <p:blipFill>
          <a:blip r:embed="rId3"/>
          <a:stretch>
            <a:fillRect/>
          </a:stretch>
        </p:blipFill>
        <p:spPr>
          <a:xfrm>
            <a:off x="822960" y="4389120"/>
            <a:ext cx="5029200" cy="1856232"/>
          </a:xfrm>
          <a:prstGeom prst="rect">
            <a:avLst/>
          </a:prstGeom>
        </p:spPr>
      </p:pic>
      <p:sp>
        <p:nvSpPr>
          <p:cNvPr id="10" name="TextBox 9"/>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(b) Evidentiary Tier Hierarchy (T1 Demonstrated to T4 Context)</a:t>
            </a:r>
          </a:p>
        </p:txBody>
      </p:sp>
      <p:sp>
        <p:nvSpPr>
          <p:cNvPr id="11" name="Rounded Rectangle 10"/>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3c_organellar_etc.png"/>
          <p:cNvPicPr>
            <a:picLocks noChangeAspect="1"/>
          </p:cNvPicPr>
          <p:nvPr/>
        </p:nvPicPr>
        <p:blipFill>
          <a:blip r:embed="rId4"/>
          <a:stretch>
            <a:fillRect/>
          </a:stretch>
        </p:blipFill>
        <p:spPr>
          <a:xfrm>
            <a:off x="6339535" y="4389120"/>
            <a:ext cx="5029200" cy="1856232"/>
          </a:xfrm>
          <a:prstGeom prst="rect">
            <a:avLst/>
          </a:prstGeom>
        </p:spPr>
      </p:pic>
      <p:sp>
        <p:nvSpPr>
          <p:cNvPr id="13" name="TextBox 12"/>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(c) Organellar Electron Transport Hubs (Chloroplast PETC &amp; Mitochondrial AOX)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7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Separating rigorously demonstrated radical pair quantum biology (T1/T2) from speculative claims (T3/T4)</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b_evidentiary_tier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3c_organellar_etc.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RADICAL PAIR SPIN-CHEMICAL MECHANISM:</a:t>
            </a:r>
          </a:p>
          <a:p>
            <a:pPr>
              <a:defRPr sz="900">
                <a:solidFill>
                  <a:srgbClr val="0F172A"/>
                </a:solidFill>
              </a:defRPr>
            </a:pPr>
            <a:r>
              <a:t>1. Radical Pair Formation:</a:t>
            </a:r>
            <a:br/>
            <a:r>
              <a:t>   • Photon absorption (450 nm blue light) promotes electron transfer:</a:t>
            </a:r>
            <a:br/>
            <a:r>
              <a:t>     FAD + TrpH → [FAD•- ... TrpH•+]</a:t>
            </a:r>
            <a:br/>
            <a:r>
              <a:t>   • Generates a spin-correlated singlet-triplet pair.</a:t>
            </a:r>
            <a:br/>
            <a:br/>
            <a:r>
              <a:t>2. Zeeman &amp; Hyperfine Modulation:</a:t>
            </a:r>
            <a:br/>
            <a:r>
              <a:t>   • In Earth's GMF (45 µT), external Zeeman splitting alters singlet-to-triplet interconversion rates.</a:t>
            </a:r>
            <a:br/>
            <a:r>
              <a:t>   • In Near-Null Fields (&lt;0.8 nT), Zeeman mixing collapses, altering radical pair lifetimes and yields.</a:t>
            </a:r>
            <a:br/>
            <a:br/>
            <a:r>
              <a:t>3. Downstream Signaling Attenuation:</a:t>
            </a:r>
            <a:br/>
            <a:r>
              <a:t>   • Reduced cryptochrome active signaling decreases COP1/SPA1 dissociation.</a:t>
            </a:r>
            <a:br/>
            <a:r>
              <a:t>   • Less HY5 transcription factor is stabilized in the nucleus.</a:t>
            </a:r>
            <a:br/>
            <a:r>
              <a:t>   • Direct repression of HEMA1, POR, CHS, and CHI (chlorophyll and anthocyanin chlorosis).</a:t>
            </a:r>
            <a:br/>
            <a:br/>
            <a:r>
              <a:t>4. Critical Evidentiary Tiers:</a:t>
            </a:r>
            <a:br/>
            <a:r>
              <a:t>   • T1 (Solid): Cryptochrome FAD•- in vitro magnetic sensitivity.</a:t>
            </a:r>
            <a:br/>
            <a:r>
              <a:t>   • T2 (Plausible): Peroxisomal flavin oxidase radical pairs.</a:t>
            </a:r>
            <a:br/>
            <a:r>
              <a:t>   • T3/T4 (Speculative): Mitochondrial DNA quantum coherence.</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8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a_multistressor_spac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Multi-Stressor Space: Exploration Atmosphere, NNMF &amp; Radiation</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b_bioenergetic_engine.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The Mitochondrial &amp; Peroxisomal CO2 &lt;-&gt; O2 &lt;-&gt; ROS Engine</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4c_multiomics_overlap.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Multi-Omics Empirical Overlap: OSD-782 Radiation vs. NNMF Loci</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4d_crosskingdom_astronaut.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Cross-Kingdom Convergence: Plant BLSS &amp; Human Astronaut Health</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9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c_multiomics_overlap.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4d_crosskingdom_astronaut.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SHARED BIOENERGETIC PHENOTYPE:</a:t>
            </a:r>
          </a:p>
          <a:p>
            <a:pPr>
              <a:defRPr sz="900">
                <a:solidFill>
                  <a:srgbClr val="0F172A"/>
                </a:solidFill>
              </a:defRPr>
            </a:pPr>
            <a:r>
              <a:t>1. The Alternative Oxidase (AOX) Safety Valve:</a:t>
            </a:r>
            <a:br/>
            <a:r>
              <a:t>   • In plants, Alternative Oxidase (AOX1D, AT1G32350) acts as an uncoupled terminal oxidase.</a:t>
            </a:r>
            <a:br/>
            <a:r>
              <a:t>   • Bypasses Complexes III and IV to oxidize ubiquinol directly to H2O without pumping protons.</a:t>
            </a:r>
            <a:br/>
            <a:r>
              <a:t>   • Prevents runaway superoxide (O2•-) formation at Complex I and III.</a:t>
            </a:r>
            <a:br/>
            <a:br/>
            <a:r>
              <a:t>2. Empirical Concordance (NASA OSDR OSD-782 vs. NNMF):</a:t>
            </a:r>
            <a:br/>
            <a:r>
              <a:t>   • AOX1D: +2.45 log2FC (Radiation) | +1.88 log2FC (NNMF)</a:t>
            </a:r>
            <a:br/>
            <a:r>
              <a:t>   • CAT3: +1.92 log2FC (Radiation) | +1.45 log2FC (NNMF)</a:t>
            </a:r>
            <a:br/>
            <a:r>
              <a:t>   • HEMA1: -1.85 log2FC (Radiation) | -2.10 log2FC (NNMF)</a:t>
            </a:r>
            <a:br/>
            <a:br/>
            <a:r>
              <a:t>3. Cross-Kingdom Spaceflight Nexus:</a:t>
            </a:r>
            <a:br/>
            <a:r>
              <a:t>   • Afshinnekoo et al. (Cell 2020) and the NASA Twins Study identified mitochondrial dysfunction as the single most conserved hallmark across astronaut tissues.</a:t>
            </a:r>
            <a:br/>
            <a:r>
              <a:t>   • High cell-free mitochondrial DNA (cf-mtDNA), elevated ROS, and respiratory chain decoupling occur in both human astronauts and lunar plants!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10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Flight Validation, Causal Rescue &amp; Artemis Risk Pipeline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3-chamber ground controls, in-situ 3-axis fluxgate telemetry, active 45 µT rescue coils, and predeclared flight gates</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a_ground_chambers.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Methodological Ground Simulation &amp; 3-Chamber Parity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b_flight_telemetry.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In-Chamber 3-Axis Fluxgate Magnetometer Telemetry</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5c_causal_rescue.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Active Causal Rescue: 40–50 µT Vector Re-Application</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5d_decision_matri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Predeclared Operational Flight Decision Gates</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11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Artemis III LEAF Predeclared Operational Decision Gates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Pre-agreed quantitative decision thresholds to ensure rigorous science and safeguard lunar crop viability</a:t>
            </a:r>
          </a:p>
        </p:txBody>
      </p:sp>
      <p:graphicFrame>
        <p:nvGraphicFramePr>
          <p:cNvPr id="5" name="Table 4"/>
          <p:cNvGraphicFramePr>
            <a:graphicFrameLocks noGrp="1"/>
          </p:cNvGraphicFramePr>
          <p:nvPr/>
        </p:nvGraphicFramePr>
        <p:xfrm>
          <a:off x="731520" y="1645920"/>
          <a:ext cx="10728655" cy="4480560"/>
        </p:xfrm>
        <a:graphic>
          <a:graphicData uri="http://schemas.openxmlformats.org/drawingml/2006/table">
            <a:tbl>
              <a:tblPr firstRow="1" bandRow="1">
                <a:tableStyleId>{5C22544A-7EE6-4342-B048-85BDC9FD1C3A}</a:tableStyleId>
              </a:tblPr>
              <a:tblGrid>
                <a:gridCol w="1645920"/>
                <a:gridCol w="2377440"/>
                <a:gridCol w="2926080"/>
                <a:gridCol w="3779215"/>
              </a:tblGrid>
              <a:tr h="1120140">
                <a:tc>
                  <a:txBody>
                    <a:bodyPr/>
                    <a:lstStyle/>
                    <a:p>
                      <a:pPr>
                        <a:defRPr sz="1000" b="1">
                          <a:solidFill>
                            <a:srgbClr val="F8FAFC"/>
                          </a:solidFill>
                        </a:defRPr>
                      </a:pPr>
                      <a:r>
                        <a:t>Flight Decision Gate</a:t>
                      </a:r>
                    </a:p>
                  </a:txBody>
                  <a:tcPr anchor="ctr">
                    <a:solidFill>
                      <a:srgbClr val="0B1E36"/>
                    </a:solidFill>
                  </a:tcPr>
                </a:tc>
                <a:tc>
                  <a:txBody>
                    <a:bodyPr/>
                    <a:lstStyle/>
                    <a:p>
                      <a:pPr>
                        <a:defRPr sz="1000" b="1">
                          <a:solidFill>
                            <a:srgbClr val="F8FAFC"/>
                          </a:solidFill>
                        </a:defRPr>
                      </a:pPr>
                      <a:r>
                        <a:t>Magnetic Field Telemetry</a:t>
                      </a:r>
                    </a:p>
                  </a:txBody>
                  <a:tcPr anchor="ctr">
                    <a:solidFill>
                      <a:srgbClr val="0B1E36"/>
                    </a:solidFill>
                  </a:tcPr>
                </a:tc>
                <a:tc>
                  <a:txBody>
                    <a:bodyPr/>
                    <a:lstStyle/>
                    <a:p>
                      <a:pPr>
                        <a:defRPr sz="1000" b="1">
                          <a:solidFill>
                            <a:srgbClr val="F8FAFC"/>
                          </a:solidFill>
                        </a:defRPr>
                      </a:pPr>
                      <a:r>
                        <a:t>Biological Metric Threshold</a:t>
                      </a:r>
                    </a:p>
                  </a:txBody>
                  <a:tcPr anchor="ctr">
                    <a:solidFill>
                      <a:srgbClr val="0B1E36"/>
                    </a:solidFill>
                  </a:tcPr>
                </a:tc>
                <a:tc>
                  <a:txBody>
                    <a:bodyPr/>
                    <a:lstStyle/>
                    <a:p>
                      <a:pPr>
                        <a:defRPr sz="1000" b="1">
                          <a:solidFill>
                            <a:srgbClr val="F8FAFC"/>
                          </a:solidFill>
                        </a:defRPr>
                      </a:pPr>
                      <a:r>
                        <a:t>Predeclared Operational Action</a:t>
                      </a:r>
                    </a:p>
                  </a:txBody>
                  <a:tcPr anchor="ctr">
                    <a:solidFill>
                      <a:srgbClr val="0B1E36"/>
                    </a:solidFill>
                  </a:tcPr>
                </a:tc>
              </a:tr>
              <a:tr h="1120140">
                <a:tc>
                  <a:txBody>
                    <a:bodyPr/>
                    <a:lstStyle/>
                    <a:p>
                      <a:pPr>
                        <a:defRPr sz="900" b="1">
                          <a:solidFill>
                            <a:srgbClr val="16A34A"/>
                          </a:solidFill>
                        </a:defRPr>
                      </a:pPr>
                      <a:r>
                        <a:t>GREEN GATE</a:t>
                      </a:r>
                    </a:p>
                    <a:p>
                      <a:r>
                        <a:t>(Nominal Flight)</a:t>
                      </a:r>
                    </a:p>
                  </a:txBody>
                  <a:tcPr anchor="ctr">
                    <a:solidFill>
                      <a:srgbClr val="DCFCE7"/>
                    </a:solidFill>
                  </a:tcPr>
                </a:tc>
                <a:tc>
                  <a:txBody>
                    <a:bodyPr/>
                    <a:lstStyle/>
                    <a:p>
                      <a:pPr>
                        <a:defRPr sz="900">
                          <a:solidFill>
                            <a:srgbClr val="0F172A"/>
                          </a:solidFill>
                        </a:defRPr>
                      </a:pPr>
                      <a:r>
                        <a:t>|B_total| &lt; 5.0 nT</a:t>
                      </a:r>
                    </a:p>
                    <a:p>
                      <a:r>
                        <a:t>Steady-state near-null field;</a:t>
                      </a:r>
                    </a:p>
                    <a:p>
                      <a:r>
                        <a:t>No lander EMI spikes (&gt;10 nT).</a:t>
                      </a:r>
                    </a:p>
                  </a:txBody>
                  <a:tcPr anchor="ctr">
                    <a:solidFill>
                      <a:srgbClr val="FFFFFF"/>
                    </a:solidFill>
                  </a:tcPr>
                </a:tc>
                <a:tc>
                  <a:txBody>
                    <a:bodyPr/>
                    <a:lstStyle/>
                    <a:p>
                      <a:pPr>
                        <a:defRPr sz="900">
                          <a:solidFill>
                            <a:srgbClr val="0F172A"/>
                          </a:solidFill>
                        </a:defRPr>
                      </a:pPr>
                      <a:r>
                        <a:t>Germination Capacity ≥ 85%</a:t>
                      </a:r>
                    </a:p>
                    <a:p>
                      <a:r>
                        <a:t>Normal t50 emergence velocity;</a:t>
                      </a:r>
                    </a:p>
                    <a:p>
                      <a:r>
                        <a:t>Active hypocotyl greening.</a:t>
                      </a:r>
                    </a:p>
                  </a:txBody>
                  <a:tcPr anchor="ctr">
                    <a:solidFill>
                      <a:srgbClr val="FFFFFF"/>
                    </a:solidFill>
                  </a:tcPr>
                </a:tc>
                <a:tc>
                  <a:txBody>
                    <a:bodyPr/>
                    <a:lstStyle/>
                    <a:p>
                      <a:pPr>
                        <a:defRPr sz="900">
                          <a:solidFill>
                            <a:srgbClr val="0F172A"/>
                          </a:solidFill>
                        </a:defRPr>
                      </a:pPr>
                      <a:r>
                        <a:t>Continue nominal autonomous flight timeline.</a:t>
                      </a:r>
                    </a:p>
                    <a:p>
                      <a:r>
                        <a:t>• 10 Hz magnetometer logging.</a:t>
                      </a:r>
                    </a:p>
                    <a:p>
                      <a:r>
                        <a:t>• 30-minute multispectral camera imaging.</a:t>
                      </a:r>
                    </a:p>
                    <a:p>
                      <a:r>
                        <a:t>• Standard environmental controls.</a:t>
                      </a:r>
                    </a:p>
                  </a:txBody>
                  <a:tcPr anchor="ctr">
                    <a:solidFill>
                      <a:srgbClr val="FFFFFF"/>
                    </a:solidFill>
                  </a:tcPr>
                </a:tc>
              </a:tr>
              <a:tr h="1120140">
                <a:tc>
                  <a:txBody>
                    <a:bodyPr/>
                    <a:lstStyle/>
                    <a:p>
                      <a:pPr>
                        <a:defRPr sz="900" b="1">
                          <a:solidFill>
                            <a:srgbClr val="D97706"/>
                          </a:solidFill>
                        </a:defRPr>
                      </a:pPr>
                      <a:r>
                        <a:t>AMBER GATE</a:t>
                      </a:r>
                    </a:p>
                    <a:p>
                      <a:r>
                        <a:t>(Investigation / Caution)</a:t>
                      </a:r>
                    </a:p>
                  </a:txBody>
                  <a:tcPr anchor="ctr">
                    <a:solidFill>
                      <a:srgbClr val="FEF3C7"/>
                    </a:solidFill>
                  </a:tcPr>
                </a:tc>
                <a:tc>
                  <a:txBody>
                    <a:bodyPr/>
                    <a:lstStyle/>
                    <a:p>
                      <a:pPr>
                        <a:defRPr sz="900">
                          <a:solidFill>
                            <a:srgbClr val="0F172A"/>
                          </a:solidFill>
                        </a:defRPr>
                      </a:pPr>
                      <a:r>
                        <a:t>5.0 nT ≤ |B_total| ≤ 50 nT</a:t>
                      </a:r>
                    </a:p>
                    <a:p>
                      <a:r>
                        <a:t>Intermittent lander DC ripple</a:t>
                      </a:r>
                    </a:p>
                    <a:p>
                      <a:r>
                        <a:t>or unexpected local anomaly.</a:t>
                      </a:r>
                    </a:p>
                  </a:txBody>
                  <a:tcPr anchor="ctr">
                    <a:solidFill>
                      <a:srgbClr val="FFFFFF"/>
                    </a:solidFill>
                  </a:tcPr>
                </a:tc>
                <a:tc>
                  <a:txBody>
                    <a:bodyPr/>
                    <a:lstStyle/>
                    <a:p>
                      <a:pPr>
                        <a:defRPr sz="900">
                          <a:solidFill>
                            <a:srgbClr val="0F172A"/>
                          </a:solidFill>
                        </a:defRPr>
                      </a:pPr>
                      <a:r>
                        <a:t>15% to 30% Emergence Delay</a:t>
                      </a:r>
                    </a:p>
                    <a:p>
                      <a:r>
                        <a:t>(t50 lag &gt; 18 h) or mild seedling</a:t>
                      </a:r>
                    </a:p>
                    <a:p>
                      <a:r>
                        <a:t>chlorosis detected.</a:t>
                      </a:r>
                    </a:p>
                  </a:txBody>
                  <a:tcPr anchor="ctr">
                    <a:solidFill>
                      <a:srgbClr val="FFFFFF"/>
                    </a:solidFill>
                  </a:tcPr>
                </a:tc>
                <a:tc>
                  <a:txBody>
                    <a:bodyPr/>
                    <a:lstStyle/>
                    <a:p>
                      <a:pPr>
                        <a:defRPr sz="900">
                          <a:solidFill>
                            <a:srgbClr val="0F172A"/>
                          </a:solidFill>
                        </a:defRPr>
                      </a:pPr>
                      <a:r>
                        <a:t>Initiate secondary optical diagnostics.</a:t>
                      </a:r>
                    </a:p>
                    <a:p>
                      <a:r>
                        <a:t>• Command high-frequency imaging.</a:t>
                      </a:r>
                    </a:p>
                    <a:p>
                      <a:r>
                        <a:t>• Cross-reference lander power bus telemetry.</a:t>
                      </a:r>
                    </a:p>
                    <a:p>
                      <a:r>
                        <a:t>• Log potential electromagnetic interference.</a:t>
                      </a:r>
                    </a:p>
                  </a:txBody>
                  <a:tcPr anchor="ctr">
                    <a:solidFill>
                      <a:srgbClr val="FFFFFF"/>
                    </a:solidFill>
                  </a:tcPr>
                </a:tc>
              </a:tr>
              <a:tr h="1120140">
                <a:tc>
                  <a:txBody>
                    <a:bodyPr/>
                    <a:lstStyle/>
                    <a:p>
                      <a:pPr>
                        <a:defRPr sz="900" b="1">
                          <a:solidFill>
                            <a:srgbClr val="DC2626"/>
                          </a:solidFill>
                        </a:defRPr>
                      </a:pPr>
                      <a:r>
                        <a:t>RED GATE</a:t>
                      </a:r>
                    </a:p>
                    <a:p>
                      <a:r>
                        <a:t>(Causal Intervention)</a:t>
                      </a:r>
                    </a:p>
                  </a:txBody>
                  <a:tcPr anchor="ctr">
                    <a:solidFill>
                      <a:srgbClr val="FEF2F2"/>
                    </a:solidFill>
                  </a:tcPr>
                </a:tc>
                <a:tc>
                  <a:txBody>
                    <a:bodyPr/>
                    <a:lstStyle/>
                    <a:p>
                      <a:pPr>
                        <a:defRPr sz="900">
                          <a:solidFill>
                            <a:srgbClr val="0F172A"/>
                          </a:solidFill>
                        </a:defRPr>
                      </a:pPr>
                      <a:r>
                        <a:t>|B_total| &lt; 1.0 nT (Deep void)</a:t>
                      </a:r>
                    </a:p>
                    <a:p>
                      <a:r>
                        <a:t>OR extreme uncontrolled</a:t>
                      </a:r>
                    </a:p>
                    <a:p>
                      <a:r>
                        <a:t>EMI excursion (&gt;100 µT).</a:t>
                      </a:r>
                    </a:p>
                  </a:txBody>
                  <a:tcPr anchor="ctr">
                    <a:solidFill>
                      <a:srgbClr val="FFFFFF"/>
                    </a:solidFill>
                  </a:tcPr>
                </a:tc>
                <a:tc>
                  <a:txBody>
                    <a:bodyPr/>
                    <a:lstStyle/>
                    <a:p>
                      <a:pPr>
                        <a:defRPr sz="900">
                          <a:solidFill>
                            <a:srgbClr val="0F172A"/>
                          </a:solidFill>
                        </a:defRPr>
                      </a:pPr>
                      <a:r>
                        <a:t>Germination Capacity Drop &gt; 30%</a:t>
                      </a:r>
                    </a:p>
                    <a:p>
                      <a:r>
                        <a:t>or severe arrest of de-etiolation</a:t>
                      </a:r>
                    </a:p>
                    <a:p>
                      <a:r>
                        <a:t>and visible chlorosis by Day 5.</a:t>
                      </a:r>
                    </a:p>
                  </a:txBody>
                  <a:tcPr anchor="ctr">
                    <a:solidFill>
                      <a:srgbClr val="FFFFFF"/>
                    </a:solidFill>
                  </a:tcPr>
                </a:tc>
                <a:tc>
                  <a:txBody>
                    <a:bodyPr/>
                    <a:lstStyle/>
                    <a:p>
                      <a:pPr>
                        <a:defRPr sz="900">
                          <a:solidFill>
                            <a:srgbClr val="0F172A"/>
                          </a:solidFill>
                        </a:defRPr>
                      </a:pPr>
                      <a:r>
                        <a:t>EXECUTE ACTIVE CAUSAL RESCUE:</a:t>
                      </a:r>
                    </a:p>
                    <a:p>
                      <a:r>
                        <a:t>• Energize 3-axis compensation coils to re-apply 45 µT vector.</a:t>
                      </a:r>
                    </a:p>
                    <a:p>
                      <a:r>
                        <a:t>• Restore terrestrial geomagnetic conditions.</a:t>
                      </a:r>
                    </a:p>
                    <a:p>
                      <a:r>
                        <a:t>• Evaluate rescue of post-emergence seedling vigor.</a:t>
                      </a:r>
                    </a:p>
                  </a:txBody>
                  <a:tcPr anchor="ctr">
                    <a:solidFill>
                      <a:srgbClr val="FFFFFF"/>
                    </a:solidFill>
                  </a:tcPr>
                </a:tc>
              </a:tr>
            </a:tbl>
          </a:graphicData>
        </a:graphic>
      </p:graphicFrame>
      <p:sp>
        <p:nvSpPr>
          <p:cNvPr id="6" name="TextBox 5"/>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12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Complete Narrative in a Single Glance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_panel1_problem.png"/>
          <p:cNvPicPr>
            <a:picLocks noChangeAspect="1"/>
          </p:cNvPicPr>
          <p:nvPr/>
        </p:nvPicPr>
        <p:blipFill>
          <a:blip r:embed="rId2"/>
          <a:stretch>
            <a:fillRect/>
          </a:stretch>
        </p:blipFill>
        <p:spPr>
          <a:xfrm>
            <a:off x="868680" y="2011680"/>
            <a:ext cx="3200400" cy="41605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_panel2_mechanism.png"/>
          <p:cNvPicPr>
            <a:picLocks noChangeAspect="1"/>
          </p:cNvPicPr>
          <p:nvPr/>
        </p:nvPicPr>
        <p:blipFill>
          <a:blip r:embed="rId3"/>
          <a:stretch>
            <a:fillRect/>
          </a:stretch>
        </p:blipFill>
        <p:spPr>
          <a:xfrm>
            <a:off x="4480560" y="2011680"/>
            <a:ext cx="3200400" cy="416052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A_panel3_solution.png"/>
          <p:cNvPicPr>
            <a:picLocks noChangeAspect="1"/>
          </p:cNvPicPr>
          <p:nvPr/>
        </p:nvPicPr>
        <p:blipFill>
          <a:blip r:embed="rId4"/>
          <a:stretch>
            <a:fillRect/>
          </a:stretch>
        </p:blipFill>
        <p:spPr>
          <a:xfrm>
            <a:off x="8092439" y="2011680"/>
            <a:ext cx="3200400" cy="416052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13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III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10362895" cy="1188720"/>
          </a:xfrm>
          <a:prstGeom prst="rect">
            <a:avLst/>
          </a:prstGeom>
          <a:noFill/>
        </p:spPr>
        <p:txBody>
          <a:bodyPr wrap="square">
            <a:spAutoFit/>
          </a:bodyPr>
          <a:lstStyle/>
          <a:p>
            <a:pPr>
              <a:defRPr sz="1150" b="1">
                <a:solidFill>
                  <a:srgbClr val="0284C7"/>
                </a:solidFill>
              </a:defRPr>
            </a:pPr>
            <a:r>
              <a:t>Question 1: Flight Payload Hardware Integration</a:t>
            </a:r>
          </a:p>
          <a:p>
            <a:pPr>
              <a:defRPr sz="950">
                <a:solidFill>
                  <a:srgbClr val="0F172A"/>
                </a:solidFill>
              </a:defRPr>
            </a:pPr>
            <a:r>
              <a:t>• How should Artemis LEAF and commercial lunar biological payloads integrate 3-axis fluxgate magnetometers without introducing thermal or EMI artifacts?</a:t>
            </a:r>
            <a:br/>
            <a:r>
              <a:t>• Where is the optimal mounting position relative to seedling cassettes and LEDs?</a:t>
            </a:r>
            <a:br/>
            <a:r>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10362895" cy="1188720"/>
          </a:xfrm>
          <a:prstGeom prst="rect">
            <a:avLst/>
          </a:prstGeom>
          <a:noFill/>
        </p:spPr>
        <p:txBody>
          <a:bodyPr wrap="square">
            <a:spAutoFit/>
          </a:bodyPr>
          <a:lstStyle/>
          <a:p>
            <a:pPr>
              <a:defRPr sz="1150" b="1">
                <a:solidFill>
                  <a:srgbClr val="D97706"/>
                </a:solidFill>
              </a:defRPr>
            </a:pPr>
            <a:r>
              <a:t>Question 2: Crop Plasticity &amp; Cultivar Selection</a:t>
            </a:r>
          </a:p>
          <a:p>
            <a:pPr>
              <a:defRPr sz="950">
                <a:solidFill>
                  <a:srgbClr val="0F172A"/>
                </a:solidFill>
              </a:defRPr>
            </a:pPr>
            <a:r>
              <a:t>• Which candidate space crops (Arabidopsis, microgreens, dwarf wheat, tomato) demonstrate natural genetic tolerance to near-null magnetic fields?</a:t>
            </a:r>
            <a:br/>
            <a:r>
              <a:t>• Can pre-flight seed conditioning (magnetic priming or epigenetic pre-exposure) mitigate the Day 0–5 germination and emergence lag?</a:t>
            </a:r>
            <a:br/>
            <a:r>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6320"/>
            <a:ext cx="10362895" cy="1188720"/>
          </a:xfrm>
          <a:prstGeom prst="rect">
            <a:avLst/>
          </a:prstGeom>
          <a:noFill/>
        </p:spPr>
        <p:txBody>
          <a:bodyPr wrap="square">
            <a:spAutoFit/>
          </a:bodyPr>
          <a:lstStyle/>
          <a:p>
            <a:pPr>
              <a:defRPr sz="1150" b="1">
                <a:solidFill>
                  <a:srgbClr val="16A34A"/>
                </a:solidFill>
              </a:defRPr>
            </a:pPr>
            <a:r>
              <a:t>Question 3: Active Magnetic Sub-Assemblies for BLSS</a:t>
            </a:r>
          </a:p>
          <a:p>
            <a:pPr>
              <a:defRPr sz="950">
                <a:solidFill>
                  <a:srgbClr val="0F172A"/>
                </a:solidFill>
              </a:defRPr>
            </a:pPr>
            <a:r>
              <a:t>• Should future lunar surface greenhouses incorporate triaxial Helmholtz coils as standard operational infrastructure?</a:t>
            </a:r>
            <a:br/>
            <a:r>
              <a:t>• What are the mass, volume, and power trade-offs of delivering a continuous 45 µT vector over square meters of plant canopy?</a:t>
            </a:r>
            <a:br/>
            <a:r>
              <a:t>• Does vector re-application completely restore nutritional quality and secondary metabolite profiles?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14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76495" cy="1874519"/>
          </a:xfrm>
          <a:prstGeom prst="rect">
            <a:avLst/>
          </a:prstGeom>
          <a:noFill/>
        </p:spPr>
        <p:txBody>
          <a:bodyPr wrap="square">
            <a:spAutoFit/>
          </a:bodyPr>
          <a:lstStyle/>
          <a:p>
            <a:pPr>
              <a:defRPr sz="1100" b="1">
                <a:solidFill>
                  <a:srgbClr val="0284C7"/>
                </a:solidFill>
              </a:defRPr>
            </a:pPr>
            <a:r>
              <a:t>Manuscript &amp; Documents</a:t>
            </a:r>
          </a:p>
          <a:p>
            <a:pPr>
              <a:defRPr sz="880">
                <a:solidFill>
                  <a:srgbClr val="0F172A"/>
                </a:solidFill>
              </a:defRPr>
            </a:pPr>
            <a:r>
              <a:t>• Master Markdown: manuscript/Hypomagnetic_Lunar_Plant_Biology_LSSR_Review.md</a:t>
            </a:r>
            <a:br/>
            <a:r>
              <a:t>• Compiled Word Doc: Near_Null_Magnetic_Fields_Lunar_Plant_Biology_LSSR_Review.docx (2.96 MB)</a:t>
            </a:r>
            <a:br/>
            <a:r>
              <a:t>• BibTeX Library: references_LSSR.bib (79 audited references; CrossRef-verified)</a:t>
            </a:r>
            <a:br/>
            <a:r>
              <a:t>• Target Journal: Life Sciences in Space Research (COSPAR / Elsevier)</a:t>
            </a:r>
          </a:p>
        </p:txBody>
      </p:sp>
      <p:sp>
        <p:nvSpPr>
          <p:cNvPr id="7" name="Rounded Rectangle 6"/>
          <p:cNvSpPr/>
          <p:nvPr/>
        </p:nvSpPr>
        <p:spPr>
          <a:xfrm>
            <a:off x="6217920" y="1645920"/>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76495" cy="1874519"/>
          </a:xfrm>
          <a:prstGeom prst="rect">
            <a:avLst/>
          </a:prstGeom>
          <a:noFill/>
        </p:spPr>
        <p:txBody>
          <a:bodyPr wrap="square">
            <a:spAutoFit/>
          </a:bodyPr>
          <a:lstStyle/>
          <a:p>
            <a:pPr>
              <a:defRPr sz="1100" b="1">
                <a:solidFill>
                  <a:srgbClr val="E2E8F0"/>
                </a:solidFill>
              </a:defRPr>
            </a:pPr>
            <a:r>
              <a:t>Processed Empirical Data Tables</a:t>
            </a:r>
          </a:p>
          <a:p>
            <a:pPr>
              <a:defRPr sz="880">
                <a:solidFill>
                  <a:srgbClr val="0F172A"/>
                </a:solidFill>
              </a:defRPr>
            </a:pPr>
            <a:r>
              <a:t>• data/landing_sites_magnetic.csv (Field magnitudes across 23 exploration sites)</a:t>
            </a:r>
            <a:br/>
            <a:r>
              <a:t>• data/lunar_mag_field_grid.csv (1° resolution Lunar Prospector / Kaguya total field)</a:t>
            </a:r>
            <a:br/>
            <a:r>
              <a:t>• data/seedling_kinetics_summary.csv (Empirical Day 0–5 germination kinetics)</a:t>
            </a:r>
            <a:br/>
            <a:r>
              <a:t>• data/multiomics_overlap_osd782_nnmf.csv (OSDR-782 vs. NNMF gene concordance)</a:t>
            </a:r>
          </a:p>
        </p:txBody>
      </p:sp>
      <p:sp>
        <p:nvSpPr>
          <p:cNvPr id="9" name="Rounded Rectangle 8"/>
          <p:cNvSpPr/>
          <p:nvPr/>
        </p:nvSpPr>
        <p:spPr>
          <a:xfrm>
            <a:off x="731520" y="3977639"/>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799"/>
            <a:ext cx="4876495" cy="1874519"/>
          </a:xfrm>
          <a:prstGeom prst="rect">
            <a:avLst/>
          </a:prstGeom>
          <a:noFill/>
        </p:spPr>
        <p:txBody>
          <a:bodyPr wrap="square">
            <a:spAutoFit/>
          </a:bodyPr>
          <a:lstStyle/>
          <a:p>
            <a:pPr>
              <a:defRPr sz="1100" b="1">
                <a:solidFill>
                  <a:srgbClr val="E2E8F0"/>
                </a:solidFill>
              </a:defRPr>
            </a:pPr>
            <a:r>
              <a:t>NASA Open Science Data Accessions</a:t>
            </a:r>
          </a:p>
          <a:p>
            <a:pPr>
              <a:defRPr sz="880">
                <a:solidFill>
                  <a:srgbClr val="0F172A"/>
                </a:solidFill>
              </a:defRPr>
            </a:pPr>
            <a:r>
              <a:t>• OSD-782: Arabidopsis thaliana response to 1 Gy ionizing radiation (rad-bio-app)</a:t>
            </a:r>
            <a:br/>
            <a:r>
              <a:t>• OSD-8: Spaceflight transcriptional response in Arabidopsis seedlings</a:t>
            </a:r>
            <a:br/>
            <a:r>
              <a:t>• OSD-27: Light quality and microgravity interactions in space crops</a:t>
            </a:r>
            <a:br/>
            <a:r>
              <a:t>• Rad-Bio-App: https://osdr.nasa.gov/bio/repo/data/studies/OSD-782</a:t>
            </a:r>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114799"/>
            <a:ext cx="4876495" cy="1874519"/>
          </a:xfrm>
          <a:prstGeom prst="rect">
            <a:avLst/>
          </a:prstGeom>
          <a:noFill/>
        </p:spPr>
        <p:txBody>
          <a:bodyPr wrap="square">
            <a:spAutoFit/>
          </a:bodyPr>
          <a:lstStyle/>
          <a:p>
            <a:pPr>
              <a:defRPr sz="1100" b="1">
                <a:solidFill>
                  <a:srgbClr val="16A34A"/>
                </a:solidFill>
              </a:defRPr>
            </a:pPr>
            <a:r>
              <a:t>Interactive Web Portal &amp; Zenodo Release</a:t>
            </a:r>
          </a:p>
          <a:p>
            <a:pPr>
              <a:defRPr sz="880">
                <a:solidFill>
                  <a:srgbClr val="0F172A"/>
                </a:solidFill>
              </a:defRPr>
            </a:pPr>
            <a:r>
              <a:t>• Live CoSE Showcase: https://dr-richard-barker.github.io/NMF_review/</a:t>
            </a:r>
            <a:br/>
            <a:r>
              <a:t>• GitHub Repository: https://github.com/dr-richard-barker/NMF_review</a:t>
            </a:r>
            <a:br/>
            <a:r>
              <a:t>• Zenodo Package: .zenodo.json, CITATION.cff, MANIFEST.tsv, CHECKSUMS.sha256</a:t>
            </a:r>
            <a:br/>
            <a:r>
              <a:t>• ABAI Quality Control: 5/5 checks passed; official HEAD attestation active</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15 of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